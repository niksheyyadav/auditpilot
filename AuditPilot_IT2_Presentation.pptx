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Namaste, main Nikshey Yadav hoon, SGT University se B.Tech CSE Data Science, 7th semester.</a:t>
            </a:r>
          </a:p>
          <a:p>
            <a:r>
              <a:t>Meri training AccioJobs Pvt. Ltd. mein thi, aur ye mera project hai: AuditPilot.</a:t>
            </a:r>
          </a:p>
          <a:p>
            <a:r>
              <a:t>AuditPilot ek AI website audit agent hai: tools facts nikalte hain, local LLM unhe explain karta hai.</a:t>
            </a:r>
          </a:p>
          <a:p>
            <a:r>
              <a:t>Slide par jo 54 aur 96 hai, wo mere project ke do demo pages ka asli audit score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Training mein humne HTML, CSS, JavaScript, React, AI aur AI agents seekhe, Node.js thoda, aur MCP ke basics.</a:t>
            </a:r>
          </a:p>
          <a:p>
            <a:r>
              <a:t>Express, MongoDB aur JWT training mein cover nahi hue the.</a:t>
            </a:r>
          </a:p>
          <a:p>
            <a:r>
              <a:t>Inhe maine Claude Code ke saath AI-assisted development se seekha aur is project mein use kiya.</a:t>
            </a:r>
          </a:p>
          <a:p>
            <a:r>
              <a:t>Main ye openly bata raha hoon, aur har feature explain kar sakta hoon.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ye hai ki website quality ke liye alag alag tools chalane padte hain: SEO, accessibility, security, performance.</a:t>
            </a:r>
          </a:p>
          <a:p>
            <a:r>
              <a:t>Aur report mein sirf raw data hota hai, ye samajh nahi aata ki pehle kya fix karein.</a:t>
            </a:r>
          </a:p>
          <a:p>
            <a:r>
              <a:t>AuditPilot URL leta hai, 29 checks chalata hai, score aur evidence deta hai.</a:t>
            </a:r>
          </a:p>
          <a:p>
            <a:r>
              <a:t>Phir local AI batata hai ki kya pehle fix karna hai, aur aap follow-up sawal bhi puch sakte 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Frontend React 19 aur Vite hai, charts ke liye Recharts.</a:t>
            </a:r>
          </a:p>
          <a:p>
            <a:r>
              <a:t>Backend Express 5 hai, MongoDB Mongoose ke saath, login ke liye JWT aur bcrypt.</a:t>
            </a:r>
          </a:p>
          <a:p>
            <a:r>
              <a:t>AI ke liye Ollama par open-source model qwen2.5:3b chalta hai: private, free, aur offline kaam karta hai.</a:t>
            </a:r>
          </a:p>
          <a:p>
            <a:r>
              <a:t>MCP SDK se same tools Claude Code mein bhi chalte hain, aur Vitest se 71 tests likhe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 architecture hai. Browser mein React UI Express API se baat karta hai.</a:t>
            </a:r>
          </a:p>
          <a:p>
            <a:r>
              <a:t>Hari line deterministic path hai: Express audit engine ko call karta hai, jo SSRF guard ke saath target website fetch karta hai. Isme LLM nahi hai.</a:t>
            </a:r>
          </a:p>
          <a:p>
            <a:r>
              <a:t>Orange line AI path hai: agent loop queue ke through local Ollama model se baat karta hai.</a:t>
            </a:r>
          </a:p>
          <a:p>
            <a:r>
              <a:t>Same tool registry MCP server ke through Claude Code ko bhi milti hai, aur sab data MongoDB mein save hota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principle ye hai: tools facts compute karte hain, LLM sirf explain karta hai.</a:t>
            </a:r>
          </a:p>
          <a:p>
            <a:r>
              <a:t>Chat mein current audit ka data pehle se prompt mein hota hai, to zyada sawal bina tool ke solve ho jaate hain.</a:t>
            </a:r>
          </a:p>
          <a:p>
            <a:r>
              <a:t>Agar zarurat ho to model tool maangta hai, server zod se arguments validate karke tool chalata hai, aur result wapas model ko deta hai.</a:t>
            </a:r>
          </a:p>
          <a:p>
            <a:r>
              <a:t>Guardrails: maximum 5 steps, galat arguments par ek retry, user sirf apne audits dekh sakta hai, aur ek time par ek hi LLM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Database MongoDB mein hai. Do collections hain: User aur Audit.</a:t>
            </a:r>
          </a:p>
          <a:p>
            <a:r>
              <a:t>Ek user ke bahut saare audits hote hain, aur Audit mein user ka reference hai. Index user, url aur createdAt par hai.</a:t>
            </a:r>
          </a:p>
          <a:p>
            <a:r>
              <a:t>Findings, chat messages aur tool calls Audit document ke andar embedded hain, isliye ek query mein poori report mil jaati hai.</a:t>
            </a:r>
          </a:p>
          <a:p>
            <a:r>
              <a:t>Mongoose models: User aur Audit, baaki sub-schemas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 saare screenshots running app se Playwright se liye hain, asli local model qwen2.5:3b ke saath. Koi mock ya seeded text inme nahi hai.</a:t>
            </a:r>
          </a:p>
          <a:p>
            <a:r>
              <a:t>Pehla: animated score gauge, chaar category scores aur AI summary. Doosra: har finding mein evidence aur Nginx ya Express fix snippet.</a:t>
            </a:r>
          </a:p>
          <a:p>
            <a:r>
              <a:t>Teesra: agent chat, aur collapsible tool trace jisme tool ka naam, args aur time dikhta hai. Compare page agle slide par hai, 54 se 96.</a:t>
            </a:r>
          </a:p>
          <a:p>
            <a:r>
              <a:t>Aur bhi hai: score trend chart, Markdown export, print stylesheet, aur header mein LLM mode badge.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ka flow: pehle demo bad page audit karte hain, score 54 aata hai, turant, bina LLM ke.</a:t>
            </a:r>
          </a:p>
          <a:p>
            <a:r>
              <a:t>Findings dekhte hain, aur jab tak local model summary likhta hai, hum findings par baat karte hain. Phir agent se puchte hain: what should I fix first.</a:t>
            </a:r>
          </a:p>
          <a:p>
            <a:r>
              <a:t>Phir demo good page audit karte hain, score 96, aur compare page par 22 issues fixed dikhte hain. Tool trace aur MCP ka demo last mein.</a:t>
            </a:r>
          </a:p>
          <a:p>
            <a:r>
              <a:t>Ye numbers asli hain: laptop par CPU par model chalta hai, isliye AI answer mein 15 se 30 second lagte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Kyunki hum user ka diya URL fetch karte hain, SSRF guard zaroori hai: sirf http aur https, private aur localhost addresses block, metadata address block, max 3 redirects, 10 second timeout, 2 MB limit.</a:t>
            </a:r>
          </a:p>
          <a:p>
            <a:r>
              <a:t>Login JWT se hai, passwords bcrypt se hash hote hain, helmet aur rate limit lage hain, aur ek user doosre ka audit nahi dekh sakta.</a:t>
            </a:r>
          </a:p>
          <a:p>
            <a:r>
              <a:t>Testing mein 71 tests hain aur sab pass hote hain: 19 checker aur scoring, 21 SSRF, 10 API aur auth, 18 agent, aur 3 MCP ke.</a:t>
            </a:r>
          </a:p>
          <a:p>
            <a:r>
              <a:t>Asli local model ka behaviour npm run check:llm aur manual run se check kiya, CI tests se nahi.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Seekha: poora MERN stack, JWT, SSRF jaise security risks, agent loop aur tool calling, MCP, aur testing.</a:t>
            </a:r>
          </a:p>
          <a:p>
            <a:r>
              <a:t>Challenge: chhota 3B local model kabhi tool ke arguments galat bana deta tha, jaise audit ID mangle kar dena. Maine arguments optional kiye aur helpful error diya.</a:t>
            </a:r>
          </a:p>
          <a:p>
            <a:r>
              <a:t>Local model CPU par slow hai, isliye summary background mein aur queue ke saath rakhi.</a:t>
            </a:r>
          </a:p>
          <a:p>
            <a:r>
              <a:t>Future: bada ya fine-tuned model, docs par RAG, scheduled audits, CI integration, aur zyada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Dhanyavaad. AuditPilot mein tools facts nikalte hain, local open-source LLM unhe explain karta hai, aur sab kuch aapke laptop par chalta hai.</a:t>
            </a:r>
          </a:p>
          <a:p>
            <a:r>
              <a:t>Ab main aapke sawalon ke liye taiyaar hoon.</a:t>
            </a:r>
          </a:p>
          <a:p>
            <a:r>
              <a:t>Agar aap chahein to main live demo dobara dikha sakta hoon, ya koi bhi feature detail mein explain kar sakta hoon.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E1065"/>
            </a:gs>
            <a:gs pos="100000">
              <a:srgbClr val="A21CAF"/>
            </a:gs>
          </a:gsLst>
          <a:lin scaled="0" ang="19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5D0FE"/>
                </a:solidFill>
                <a:latin typeface="Segoe UI Semibold"/>
              </a:rPr>
              <a:t>INDUSTRIAL TRAINING PROJECT  ·  IT-2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68580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0">
                <a:solidFill>
                  <a:srgbClr val="FFFFFF"/>
                </a:solidFill>
                <a:latin typeface="Segoe UI Semibold"/>
              </a:rPr>
              <a:t>AuditPilot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65836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EDE9FE"/>
                </a:solidFill>
                <a:latin typeface="Segoe UI"/>
              </a:rPr>
              <a:t>An AI website audit agent. Tools compute the facts; a local open-source LLM explains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Segoe UI Semibold"/>
              </a:rPr>
              <a:t>Nikshey Yadav  ·  Roll No. 231302221</a:t>
            </a:r>
          </a:p>
          <a:p>
            <a:pPr algn="l">
              <a:lnSpc>
                <a:spcPct val="100000"/>
              </a:lnSpc>
              <a:spcBef>
                <a:spcPts val="675"/>
              </a:spcBef>
            </a:pPr>
            <a:r>
              <a:rPr sz="1500" b="0">
                <a:solidFill>
                  <a:srgbClr val="EDE9FE"/>
                </a:solidFill>
                <a:latin typeface="Segoe UI"/>
              </a:rPr>
              <a:t>B.Tech CSE (Data Science)  ·  7th Semester  ·  SGT University</a:t>
            </a:r>
          </a:p>
          <a:p>
            <a:pPr algn="l">
              <a:lnSpc>
                <a:spcPct val="100000"/>
              </a:lnSpc>
              <a:spcBef>
                <a:spcPts val="675"/>
              </a:spcBef>
            </a:pPr>
            <a:r>
              <a:rPr sz="1500" b="0">
                <a:solidFill>
                  <a:srgbClr val="EDE9FE"/>
                </a:solidFill>
                <a:latin typeface="Segoe UI"/>
              </a:rPr>
              <a:t>Training: AccioJobs Pvt. Ltd.  ·  8 August to 18 March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25880"/>
            <a:ext cx="338328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50876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6788"/>
                </a:solidFill>
                <a:latin typeface="Segoe UI Semibold"/>
              </a:rPr>
              <a:t>SAME PAGE, BEFORE AND AFTER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14630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>
                <a:solidFill>
                  <a:srgbClr val="D97706"/>
                </a:solidFill>
                <a:latin typeface="Segoe UI Semibold"/>
              </a:rPr>
              <a:t>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1920240"/>
            <a:ext cx="14630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>
                <a:solidFill>
                  <a:srgbClr val="059669"/>
                </a:solidFill>
                <a:latin typeface="Segoe UI Semibold"/>
              </a:rPr>
              <a:t>96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55480" y="2514600"/>
            <a:ext cx="457200" cy="0"/>
          </a:xfrm>
          <a:prstGeom prst="line">
            <a:avLst/>
          </a:prstGeom>
          <a:ln w="38100">
            <a:solidFill>
              <a:srgbClr val="6B67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0" y="297180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788"/>
                </a:solidFill>
                <a:latin typeface="Segoe UI Semibold"/>
              </a:rPr>
              <a:t>/demo/bad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97180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788"/>
                </a:solidFill>
                <a:latin typeface="Segoe UI Semibold"/>
              </a:rPr>
              <a:t>/demo/good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65760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6D28D9"/>
                </a:solidFill>
                <a:latin typeface="Segoe UI Semibold"/>
              </a:rPr>
              <a:t>+42 points</a:t>
            </a: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Real scores from the running app, computed with no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66928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26D3"/>
                </a:solidFill>
                <a:latin typeface="Segoe UI Semibold"/>
              </a:rPr>
              <a:t>TRAINING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49808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1C1736"/>
                </a:solidFill>
                <a:latin typeface="Segoe UI Semibold"/>
              </a:rPr>
              <a:t>What training gave me, and what I added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"/>
              </a:rPr>
              <a:t>AuditPilot  ·  Nikshey Yadav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 Semibold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25780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257800" cy="6858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8463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Segoe UI Semibold"/>
              </a:rPr>
              <a:t>Covered in 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788920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233172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C1736"/>
                </a:solidFill>
                <a:latin typeface="Segoe UI Semibold"/>
              </a:rPr>
              <a:t>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788920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788920"/>
            <a:ext cx="233172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C1736"/>
                </a:solidFill>
                <a:latin typeface="Segoe UI Semibold"/>
              </a:rPr>
              <a:t>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47287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233172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C1736"/>
                </a:solidFill>
                <a:latin typeface="Segoe UI Semibold"/>
              </a:rPr>
              <a:t>JavaScript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7287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447287"/>
            <a:ext cx="233172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C1736"/>
                </a:solidFill>
                <a:latin typeface="Segoe UI Semibold"/>
              </a:rPr>
              <a:t>React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105656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233172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C1736"/>
                </a:solidFill>
                <a:latin typeface="Segoe UI Semibold"/>
              </a:rPr>
              <a:t>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105656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4105656"/>
            <a:ext cx="233172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C1736"/>
                </a:solidFill>
                <a:latin typeface="Segoe UI Semibold"/>
              </a:rPr>
              <a:t>AI agents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764024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764024"/>
            <a:ext cx="233172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C1736"/>
                </a:solidFill>
                <a:latin typeface="Segoe UI Semibold"/>
              </a:rPr>
              <a:t>Node.js (a little)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4764024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4764024"/>
            <a:ext cx="233172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C1736"/>
                </a:solidFill>
                <a:latin typeface="Segoe UI Semibold"/>
              </a:rPr>
              <a:t>MCP basics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1072" y="1783080"/>
            <a:ext cx="525780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91072" y="1783080"/>
            <a:ext cx="5257800" cy="68580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1783080"/>
            <a:ext cx="484632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Segoe UI Semibold"/>
              </a:rPr>
              <a:t>Extended beyond training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9672" y="2788920"/>
            <a:ext cx="4800600" cy="713232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2788920"/>
            <a:ext cx="4800600" cy="713232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C1736"/>
                </a:solidFill>
                <a:latin typeface="Segoe UI Semibold"/>
              </a:rPr>
              <a:t>Express</a:t>
            </a: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1C1736"/>
                </a:solidFill>
                <a:latin typeface="Segoe UI"/>
              </a:rPr>
              <a:t>REST API, SSE streaming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9672" y="3657600"/>
            <a:ext cx="4800600" cy="713232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3657600"/>
            <a:ext cx="4800600" cy="713232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C1736"/>
                </a:solidFill>
                <a:latin typeface="Segoe UI Semibold"/>
              </a:rPr>
              <a:t>MongoDB</a:t>
            </a: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1C1736"/>
                </a:solidFill>
                <a:latin typeface="Segoe UI"/>
              </a:rPr>
              <a:t>Mongoose models, indexes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9672" y="4526279"/>
            <a:ext cx="4800600" cy="713232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4526279"/>
            <a:ext cx="4800600" cy="713232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C1736"/>
                </a:solidFill>
                <a:latin typeface="Segoe UI Semibold"/>
              </a:rPr>
              <a:t>JWT</a:t>
            </a: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1C1736"/>
                </a:solidFill>
                <a:latin typeface="Segoe UI"/>
              </a:rPr>
              <a:t>login, protected routes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5394960"/>
            <a:ext cx="4846320" cy="91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0">
                <a:solidFill>
                  <a:srgbClr val="6B6788"/>
                </a:solidFill>
                <a:latin typeface="Segoe UI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760720"/>
            <a:ext cx="10908792" cy="50292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760720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2400E"/>
                </a:solidFill>
                <a:latin typeface="Segoe UI Semibold"/>
              </a:rPr>
              <a:t>Learned with AI-assisted development (Claude Code). I can explain every feature and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66928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26D3"/>
                </a:solidFill>
                <a:latin typeface="Segoe UI Semibold"/>
              </a:rPr>
              <a:t>PROBLEM TO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49808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1C1736"/>
                </a:solidFill>
                <a:latin typeface="Segoe UI Semibold"/>
              </a:rPr>
              <a:t>From scattered checks to one clear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"/>
              </a:rPr>
              <a:t>AuditPilot  ·  Nikshey Yadav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 Semibold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47548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9728" cy="429768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E11D48"/>
                </a:solidFill>
                <a:latin typeface="Segoe UI Semibold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420624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1C1736"/>
                </a:solidFill>
                <a:latin typeface="Segoe UI Semibold"/>
              </a:rPr>
              <a:t>Quality checks are manual</a:t>
            </a:r>
          </a:p>
          <a:p>
            <a:pPr algn="l">
              <a:lnSpc>
                <a:spcPct val="105000"/>
              </a:lnSpc>
              <a:spcBef>
                <a:spcPts val="720"/>
              </a:spcBef>
            </a:pPr>
            <a:r>
              <a:rPr sz="1600" b="0">
                <a:solidFill>
                  <a:srgbClr val="6B6788"/>
                </a:solidFill>
                <a:latin typeface="Segoe UI"/>
              </a:rPr>
              <a:t>A different tool for SEO, accessibility, security and speed.</a:t>
            </a:r>
          </a:p>
          <a:p>
            <a:pPr algn="l">
              <a:lnSpc>
                <a:spcPct val="105000"/>
              </a:lnSpc>
              <a:spcBef>
                <a:spcPts val="945"/>
              </a:spcBef>
            </a:pPr>
            <a:r>
              <a:rPr sz="2100" b="0">
                <a:solidFill>
                  <a:srgbClr val="1C1736"/>
                </a:solidFill>
                <a:latin typeface="Segoe UI Semibold"/>
              </a:rPr>
              <a:t>Reports are raw data</a:t>
            </a:r>
          </a:p>
          <a:p>
            <a:pPr algn="l">
              <a:lnSpc>
                <a:spcPct val="105000"/>
              </a:lnSpc>
              <a:spcBef>
                <a:spcPts val="720"/>
              </a:spcBef>
            </a:pPr>
            <a:r>
              <a:rPr sz="1600" b="0">
                <a:solidFill>
                  <a:srgbClr val="6B6788"/>
                </a:solidFill>
                <a:latin typeface="Segoe UI"/>
              </a:rPr>
              <a:t>Hundreds of lines, no clear priority.</a:t>
            </a:r>
          </a:p>
          <a:p>
            <a:pPr algn="l">
              <a:lnSpc>
                <a:spcPct val="105000"/>
              </a:lnSpc>
              <a:spcBef>
                <a:spcPts val="945"/>
              </a:spcBef>
            </a:pPr>
            <a:r>
              <a:rPr sz="2100" b="0">
                <a:solidFill>
                  <a:srgbClr val="1C1736"/>
                </a:solidFill>
                <a:latin typeface="Segoe UI Semibold"/>
              </a:rPr>
              <a:t>Cloud AI is not always allowed</a:t>
            </a:r>
          </a:p>
          <a:p>
            <a:pPr algn="l">
              <a:lnSpc>
                <a:spcPct val="105000"/>
              </a:lnSpc>
              <a:spcBef>
                <a:spcPts val="720"/>
              </a:spcBef>
            </a:pPr>
            <a:r>
              <a:rPr sz="1600" b="0">
                <a:solidFill>
                  <a:srgbClr val="6B6788"/>
                </a:solidFill>
                <a:latin typeface="Segoe UI"/>
              </a:rPr>
              <a:t>Site data may be private.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0" y="3931920"/>
            <a:ext cx="914400" cy="0"/>
          </a:xfrm>
          <a:prstGeom prst="line">
            <a:avLst/>
          </a:prstGeom>
          <a:ln w="50800">
            <a:solidFill>
              <a:srgbClr val="C02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92240" y="1783080"/>
            <a:ext cx="5056632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783080"/>
            <a:ext cx="109728" cy="42976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96596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59669"/>
                </a:solidFill>
                <a:latin typeface="Segoe UI Semibold"/>
              </a:rPr>
              <a:t>AuditPilot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51760"/>
            <a:ext cx="45720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1C1736"/>
                </a:solidFill>
                <a:latin typeface="Segoe UI Semibold"/>
              </a:rPr>
              <a:t>One URL, 29 checks</a:t>
            </a:r>
          </a:p>
          <a:p>
            <a:pPr algn="l">
              <a:lnSpc>
                <a:spcPct val="105000"/>
              </a:lnSpc>
              <a:spcBef>
                <a:spcPts val="720"/>
              </a:spcBef>
            </a:pPr>
            <a:r>
              <a:rPr sz="1600" b="0">
                <a:solidFill>
                  <a:srgbClr val="6B6788"/>
                </a:solidFill>
                <a:latin typeface="Segoe UI"/>
              </a:rPr>
              <a:t>Scores and evidence in milliseconds.</a:t>
            </a:r>
          </a:p>
          <a:p>
            <a:pPr algn="l">
              <a:lnSpc>
                <a:spcPct val="105000"/>
              </a:lnSpc>
              <a:spcBef>
                <a:spcPts val="945"/>
              </a:spcBef>
            </a:pPr>
            <a:r>
              <a:rPr sz="2100" b="0">
                <a:solidFill>
                  <a:srgbClr val="1C1736"/>
                </a:solidFill>
                <a:latin typeface="Segoe UI Semibold"/>
              </a:rPr>
              <a:t>A local AI explains</a:t>
            </a:r>
          </a:p>
          <a:p>
            <a:pPr algn="l">
              <a:lnSpc>
                <a:spcPct val="105000"/>
              </a:lnSpc>
              <a:spcBef>
                <a:spcPts val="720"/>
              </a:spcBef>
            </a:pPr>
            <a:r>
              <a:rPr sz="1600" b="0">
                <a:solidFill>
                  <a:srgbClr val="6B6788"/>
                </a:solidFill>
                <a:latin typeface="Segoe UI"/>
              </a:rPr>
              <a:t>Summary, fix plan and chat on your laptop.</a:t>
            </a:r>
          </a:p>
          <a:p>
            <a:pPr algn="l">
              <a:lnSpc>
                <a:spcPct val="105000"/>
              </a:lnSpc>
              <a:spcBef>
                <a:spcPts val="945"/>
              </a:spcBef>
            </a:pPr>
            <a:r>
              <a:rPr sz="2100" b="0">
                <a:solidFill>
                  <a:srgbClr val="1C1736"/>
                </a:solidFill>
                <a:latin typeface="Segoe UI Semibold"/>
              </a:rPr>
              <a:t>Compare before and after</a:t>
            </a:r>
          </a:p>
          <a:p>
            <a:pPr algn="l">
              <a:lnSpc>
                <a:spcPct val="105000"/>
              </a:lnSpc>
              <a:spcBef>
                <a:spcPts val="720"/>
              </a:spcBef>
            </a:pPr>
            <a:r>
              <a:rPr sz="1600" b="0">
                <a:solidFill>
                  <a:srgbClr val="6B6788"/>
                </a:solidFill>
                <a:latin typeface="Segoe UI"/>
              </a:rPr>
              <a:t>See exactly which issues were fixed.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66928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26D3"/>
                </a:solidFill>
                <a:latin typeface="Segoe UI Semibold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49808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1C1736"/>
                </a:solidFill>
                <a:latin typeface="Segoe UI Semibold"/>
              </a:rPr>
              <a:t>Every piece has a reason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"/>
              </a:rPr>
              <a:t>AuditPilot  ·  Nikshey Yadav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 Semibold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039112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C1736"/>
                </a:solidFill>
                <a:latin typeface="Segoe UI Semibold"/>
              </a:rPr>
              <a:t>React 19 + Vite</a:t>
            </a:r>
          </a:p>
          <a:p>
            <a:pPr algn="l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fast component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8308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783080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039112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C1736"/>
                </a:solidFill>
                <a:latin typeface="Segoe UI Semibold"/>
              </a:rPr>
              <a:t>Express 5</a:t>
            </a:r>
          </a:p>
          <a:p>
            <a:pPr algn="l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REST API and SSE streaming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8308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783080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039112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C1736"/>
                </a:solidFill>
                <a:latin typeface="Segoe UI Semibold"/>
              </a:rPr>
              <a:t>MongoDB + Mongoose</a:t>
            </a:r>
          </a:p>
          <a:p>
            <a:pPr algn="l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nested audit documents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78308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0" y="1783080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2039112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C1736"/>
                </a:solidFill>
                <a:latin typeface="Segoe UI Semibold"/>
              </a:rPr>
              <a:t>JWT + bcrypt</a:t>
            </a:r>
          </a:p>
          <a:p>
            <a:pPr algn="l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stateless login, hashed passwords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0040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200400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3456432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C1736"/>
                </a:solidFill>
                <a:latin typeface="Segoe UI Semibold"/>
              </a:rPr>
              <a:t>cheerio + zod</a:t>
            </a:r>
          </a:p>
          <a:p>
            <a:pPr algn="l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HTML parsing, input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320040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83280" y="3200400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456432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C1736"/>
                </a:solidFill>
                <a:latin typeface="Segoe UI Semibold"/>
              </a:rPr>
              <a:t>Recharts</a:t>
            </a:r>
          </a:p>
          <a:p>
            <a:pPr algn="l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score trend and charts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20040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26480" y="3200400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456432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C1736"/>
                </a:solidFill>
                <a:latin typeface="Segoe UI Semibold"/>
              </a:rPr>
              <a:t>MCP SDK</a:t>
            </a:r>
          </a:p>
          <a:p>
            <a:pPr algn="l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same tools in Claude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320040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869680" y="3200400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19" y="3456432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C1736"/>
                </a:solidFill>
                <a:latin typeface="Segoe UI Semibold"/>
              </a:rPr>
              <a:t>Vitest + supertest</a:t>
            </a:r>
          </a:p>
          <a:p>
            <a:pPr algn="l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71 automated tests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663440"/>
            <a:ext cx="10908792" cy="155448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4663440"/>
            <a:ext cx="10908792" cy="155448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4663440"/>
            <a:ext cx="10908792" cy="155448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B21B6"/>
              </a:gs>
              <a:gs pos="100000">
                <a:srgbClr val="C026D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754880"/>
            <a:ext cx="51206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FFFFF"/>
                </a:solidFill>
                <a:latin typeface="Segoe UI Semibold"/>
              </a:rPr>
              <a:t>Ollama + qwen2.5:3b</a:t>
            </a:r>
          </a:p>
          <a:p>
            <a:pPr algn="l">
              <a:lnSpc>
                <a:spcPct val="100000"/>
              </a:lnSpc>
              <a:spcBef>
                <a:spcPts val="630"/>
              </a:spcBef>
            </a:pPr>
            <a:r>
              <a:rPr sz="1400" b="0">
                <a:solidFill>
                  <a:srgbClr val="F5D0FE"/>
                </a:solidFill>
                <a:latin typeface="Segoe UI"/>
              </a:rPr>
              <a:t>Open-source LLM running locally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138928"/>
            <a:ext cx="16002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138928"/>
            <a:ext cx="1600200" cy="5943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C1736"/>
                </a:solidFill>
                <a:latin typeface="Segoe UI Semibold"/>
              </a:rPr>
              <a:t>Private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5138928"/>
            <a:ext cx="16002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5138928"/>
            <a:ext cx="1600200" cy="5943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C1736"/>
                </a:solidFill>
                <a:latin typeface="Segoe UI Semibold"/>
              </a:rPr>
              <a:t>Free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75520" y="5138928"/>
            <a:ext cx="16002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0" y="5138928"/>
            <a:ext cx="1600200" cy="5943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C1736"/>
                </a:solidFill>
                <a:latin typeface="Segoe UI Semibold"/>
              </a:rPr>
              <a:t>Offline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66928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26D3"/>
                </a:solidFill>
                <a:latin typeface="Segoe UI Semibold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49808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1C1736"/>
                </a:solidFill>
                <a:latin typeface="Segoe UI Semibold"/>
              </a:rPr>
              <a:t>Two paths: facts first, AI second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"/>
              </a:rPr>
              <a:t>AuditPilot  ·  Nikshey Yadav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 Semibold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011680" cy="9144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React UI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Vite, Recharts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324612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3246120"/>
            <a:ext cx="2331720" cy="9144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Express API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auth, audits, chat (SSE)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69164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691640"/>
            <a:ext cx="233172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MongoDB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users, audits,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69164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691640"/>
            <a:ext cx="269748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Audit engine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29 checks + scoring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69164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6B6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691640"/>
            <a:ext cx="246888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Target website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SSRF-guarded fetch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324612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3246120"/>
            <a:ext cx="2697480" cy="9144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Agent loop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max 5 steps, zod-validated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24612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3246120"/>
            <a:ext cx="2468880" cy="9144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Ollama LLM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qwen2.5:3b via queue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480060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4800600"/>
            <a:ext cx="269748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Tool registry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5 tools, one source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480060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4800600"/>
            <a:ext cx="233172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MCP server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stdio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0060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6B6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00600"/>
            <a:ext cx="201168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Claude Code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or Claude Desktop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51760" y="3703320"/>
            <a:ext cx="502920" cy="0"/>
          </a:xfrm>
          <a:prstGeom prst="line">
            <a:avLst/>
          </a:prstGeom>
          <a:ln w="28575">
            <a:solidFill>
              <a:srgbClr val="1C17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663440" y="2560320"/>
            <a:ext cx="0" cy="685800"/>
          </a:xfrm>
          <a:prstGeom prst="line">
            <a:avLst/>
          </a:prstGeom>
          <a:ln w="2857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486400" y="2286000"/>
            <a:ext cx="411480" cy="1097280"/>
          </a:xfrm>
          <a:prstGeom prst="line">
            <a:avLst/>
          </a:prstGeom>
          <a:ln w="3810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95360" y="2121408"/>
            <a:ext cx="457200" cy="0"/>
          </a:xfrm>
          <a:prstGeom prst="line">
            <a:avLst/>
          </a:prstGeom>
          <a:ln w="3810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486400" y="3703320"/>
            <a:ext cx="411480" cy="0"/>
          </a:xfrm>
          <a:prstGeom prst="line">
            <a:avLst/>
          </a:prstGeom>
          <a:ln w="3810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595360" y="3703320"/>
            <a:ext cx="457200" cy="0"/>
          </a:xfrm>
          <a:prstGeom prst="line">
            <a:avLst/>
          </a:prstGeom>
          <a:ln w="3810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223760" y="4160520"/>
            <a:ext cx="0" cy="640080"/>
          </a:xfrm>
          <a:prstGeom prst="line">
            <a:avLst/>
          </a:prstGeom>
          <a:ln w="3810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51760" y="5230368"/>
            <a:ext cx="502920" cy="0"/>
          </a:xfrm>
          <a:prstGeom prst="line">
            <a:avLst/>
          </a:prstGeom>
          <a:ln w="28575">
            <a:solidFill>
              <a:srgbClr val="6B67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486400" y="5230368"/>
            <a:ext cx="411480" cy="0"/>
          </a:xfrm>
          <a:prstGeom prst="line">
            <a:avLst/>
          </a:prstGeom>
          <a:ln w="28575">
            <a:solidFill>
              <a:srgbClr val="6B67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40080" y="5943600"/>
            <a:ext cx="274320" cy="12801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8521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1736"/>
                </a:solidFill>
                <a:latin typeface="Segoe UI"/>
              </a:rPr>
              <a:t>Deterministic path: no LLM involved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37760" y="5943600"/>
            <a:ext cx="274320" cy="12801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5852160"/>
            <a:ext cx="40233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1736"/>
                </a:solidFill>
                <a:latin typeface="Segoe UI"/>
              </a:rPr>
              <a:t>AI path: local, optional, queued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66928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26D3"/>
                </a:solidFill>
                <a:latin typeface="Segoe UI Semibold"/>
              </a:rPr>
              <a:t>HOW THE AGENT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49808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1C1736"/>
                </a:solidFill>
                <a:latin typeface="Segoe UI Semibold"/>
              </a:rPr>
              <a:t>Tools compute the facts. The LLM only explains.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"/>
              </a:rPr>
              <a:t>AuditPilot  ·  Nikshey Yadav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 Semibold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103120" cy="9144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Your question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plus audit data preloaded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828800"/>
            <a:ext cx="2103120" cy="9144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Local LLM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qwen2.5:3b, temp 0.1</a:t>
            </a:r>
          </a:p>
        </p:txBody>
      </p:sp>
      <p:sp>
        <p:nvSpPr>
          <p:cNvPr id="11" name="Diamond 10"/>
          <p:cNvSpPr/>
          <p:nvPr/>
        </p:nvSpPr>
        <p:spPr>
          <a:xfrm>
            <a:off x="5943600" y="1691640"/>
            <a:ext cx="1920240" cy="1188720"/>
          </a:xfrm>
          <a:prstGeom prst="diamond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691640"/>
            <a:ext cx="192024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Tool needed?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82880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828800"/>
            <a:ext cx="2926080" cy="9144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Streamed answer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tokens arrive live (SSE)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365760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3657600"/>
            <a:ext cx="2468880" cy="9144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Run tool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zod-validated arguments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65760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657600"/>
            <a:ext cx="2468880" cy="9144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Result to LLM</a:t>
            </a:r>
          </a:p>
          <a:p>
            <a:pPr algn="ctr">
              <a:lnSpc>
                <a:spcPct val="100000"/>
              </a:lnSpc>
              <a:spcBef>
                <a:spcPts val="517"/>
              </a:spcBef>
            </a:pPr>
            <a:r>
              <a:rPr sz="1150" b="0">
                <a:solidFill>
                  <a:srgbClr val="FFFFFF"/>
                </a:solidFill>
                <a:latin typeface="Segoe UI"/>
              </a:rPr>
              <a:t>name, args, ms saved as trace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2286000"/>
            <a:ext cx="548640" cy="0"/>
          </a:xfrm>
          <a:prstGeom prst="line">
            <a:avLst/>
          </a:prstGeom>
          <a:ln w="28575">
            <a:solidFill>
              <a:srgbClr val="1C17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94960" y="2286000"/>
            <a:ext cx="548640" cy="0"/>
          </a:xfrm>
          <a:prstGeom prst="line">
            <a:avLst/>
          </a:prstGeom>
          <a:ln w="28575">
            <a:solidFill>
              <a:srgbClr val="1C17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2286000"/>
            <a:ext cx="731520" cy="0"/>
          </a:xfrm>
          <a:prstGeom prst="line">
            <a:avLst/>
          </a:prstGeom>
          <a:ln w="3810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18120" y="1828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059669"/>
                </a:solidFill>
                <a:latin typeface="Segoe UI Semibold"/>
              </a:rPr>
              <a:t>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03720" y="2880360"/>
            <a:ext cx="0" cy="777240"/>
          </a:xfrm>
          <a:prstGeom prst="line">
            <a:avLst/>
          </a:prstGeom>
          <a:ln w="3810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95160" y="310896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D97706"/>
                </a:solidFill>
                <a:latin typeface="Segoe UI Semibold"/>
              </a:rPr>
              <a:t>yes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212080" y="4114800"/>
            <a:ext cx="457200" cy="0"/>
          </a:xfrm>
          <a:prstGeom prst="line">
            <a:avLst/>
          </a:prstGeom>
          <a:ln w="3810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977639" y="2743200"/>
            <a:ext cx="365761" cy="914400"/>
          </a:xfrm>
          <a:prstGeom prst="line">
            <a:avLst/>
          </a:prstGeom>
          <a:ln w="38100">
            <a:solidFill>
              <a:srgbClr val="C02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3154680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788"/>
                </a:solidFill>
                <a:latin typeface="Segoe UI"/>
              </a:rPr>
              <a:t>Max 5 steps per 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834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26D3"/>
                </a:solidFill>
                <a:latin typeface="Segoe UI Semibold"/>
              </a:rPr>
              <a:t>GUARDRAILS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49240"/>
            <a:ext cx="3474720" cy="36576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3474720" cy="3657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C1736"/>
                </a:solidFill>
                <a:latin typeface="Segoe UI Semibold"/>
              </a:rPr>
              <a:t>Max 5 steps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5349240"/>
            <a:ext cx="3474720" cy="3657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5349240"/>
            <a:ext cx="3474720" cy="3657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C1736"/>
                </a:solidFill>
                <a:latin typeface="Segoe UI Semibold"/>
              </a:rPr>
              <a:t>Bad args: retry once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5349240"/>
            <a:ext cx="3474720" cy="36576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5349240"/>
            <a:ext cx="3474720" cy="3657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C1736"/>
                </a:solidFill>
                <a:latin typeface="Segoe UI Semibold"/>
              </a:rPr>
              <a:t>Own audits only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06440"/>
            <a:ext cx="3474720" cy="365760"/>
          </a:xfrm>
          <a:prstGeom prst="roundRect">
            <a:avLst>
              <a:gd name="adj" fmla="val 12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806440"/>
            <a:ext cx="3474720" cy="3657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C1736"/>
                </a:solidFill>
                <a:latin typeface="Segoe UI Semibold"/>
              </a:rPr>
              <a:t>SSRF-guarded run_audit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5806440"/>
            <a:ext cx="3474720" cy="3657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5806440"/>
            <a:ext cx="3474720" cy="3657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C1736"/>
                </a:solidFill>
                <a:latin typeface="Segoe UI Semibold"/>
              </a:rPr>
              <a:t>1 LLM call at a 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79" y="5806440"/>
            <a:ext cx="3474720" cy="365760"/>
          </a:xfrm>
          <a:prstGeom prst="roundRect">
            <a:avLst>
              <a:gd name="adj" fmla="val 12000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79" y="5806440"/>
            <a:ext cx="3474720" cy="3657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1C1736"/>
                </a:solidFill>
                <a:latin typeface="Segoe UI Semibold"/>
              </a:rPr>
              <a:t>Rate limits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66928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26D3"/>
                </a:solidFill>
                <a:latin typeface="Segoe UI Semibold"/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49808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1C1736"/>
                </a:solidFill>
                <a:latin typeface="Segoe UI Semibold"/>
              </a:rPr>
              <a:t>Three collections, one nested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"/>
              </a:rPr>
              <a:t>AuditPilot  ·  Nikshey Yadav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 Semibold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65176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828800"/>
            <a:ext cx="2468879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2468879" cy="11887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1C1736"/>
                </a:solidFill>
                <a:latin typeface="Segoe UI"/>
              </a:rPr>
              <a:t>_id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name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email (unique)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passwordHash (bcrypt)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783080"/>
            <a:ext cx="32918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1783080"/>
            <a:ext cx="3291840" cy="457200"/>
          </a:xfrm>
          <a:prstGeom prst="roundRect">
            <a:avLst>
              <a:gd name="adj" fmla="val 25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78308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313432"/>
            <a:ext cx="310896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1C1736"/>
                </a:solidFill>
                <a:latin typeface="Segoe UI"/>
              </a:rPr>
              <a:t>_id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user  -&gt;  User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url, finalUrl, status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scores {overall, seo, accessibility,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            security, performance}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summary, fixPlan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aiStatus: pending|ready|skipped|failed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llm {provider, model, mock}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durationMs, createdAt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index (user, url, createdAt)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783080"/>
            <a:ext cx="304495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1783080"/>
            <a:ext cx="3044952" cy="45720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783080"/>
            <a:ext cx="286207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Finding (embedded, 29)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2313432"/>
            <a:ext cx="2862072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1C1736"/>
                </a:solidFill>
                <a:latin typeface="Segoe UI"/>
              </a:rPr>
              <a:t>id, category, severity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title, evidence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recommendation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3977639"/>
            <a:ext cx="30449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0" y="3977639"/>
            <a:ext cx="3044952" cy="45720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977639"/>
            <a:ext cx="286207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ChatMessage (embedded)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4507992"/>
            <a:ext cx="286207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1C1736"/>
                </a:solidFill>
                <a:latin typeface="Segoe UI"/>
              </a:rPr>
              <a:t>role, content, note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1C1736"/>
                </a:solidFill>
                <a:latin typeface="Segoe UI"/>
              </a:rPr>
              <a:t>toolCalls[]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5532120"/>
            <a:ext cx="3044952" cy="685800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5532120"/>
            <a:ext cx="28346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F1239"/>
                </a:solidFill>
                <a:latin typeface="Segoe UI Semibold"/>
              </a:rPr>
              <a:t>ToolCall: name, args, resultSummary, ms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91840" y="2651760"/>
            <a:ext cx="914400" cy="0"/>
          </a:xfrm>
          <a:prstGeom prst="line">
            <a:avLst/>
          </a:prstGeom>
          <a:ln w="31750">
            <a:solidFill>
              <a:srgbClr val="1C17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246120" y="224028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6788"/>
                </a:solidFill>
                <a:latin typeface="Segoe UI Semibold"/>
              </a:rPr>
              <a:t>1 : many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79" y="2651760"/>
            <a:ext cx="1005841" cy="0"/>
          </a:xfrm>
          <a:prstGeom prst="line">
            <a:avLst/>
          </a:prstGeom>
          <a:ln w="3175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52360" y="224028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6788"/>
                </a:solidFill>
                <a:latin typeface="Segoe UI Semibold"/>
              </a:rPr>
              <a:t>embeds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98079" y="4480560"/>
            <a:ext cx="1005841" cy="0"/>
          </a:xfrm>
          <a:prstGeom prst="line">
            <a:avLst/>
          </a:prstGeom>
          <a:ln w="3175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52360" y="406908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6788"/>
                </a:solidFill>
                <a:latin typeface="Segoe UI Semibold"/>
              </a:rPr>
              <a:t>embeds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12680" y="5349240"/>
            <a:ext cx="0" cy="182880"/>
          </a:xfrm>
          <a:prstGeom prst="line">
            <a:avLst/>
          </a:prstGeom>
          <a:ln w="31750">
            <a:solidFill>
              <a:srgbClr val="E11D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66928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26D3"/>
                </a:solidFill>
                <a:latin typeface="Segoe UI Semibold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49808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1C1736"/>
                </a:solidFill>
                <a:latin typeface="Segoe UI Semibold"/>
              </a:rPr>
              <a:t>The running app, real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"/>
              </a:rPr>
              <a:t>AuditPilot  ·  Nikshey Yadav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 Semibold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309360" cy="448055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709928"/>
            <a:ext cx="6181344" cy="3849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19" y="5577840"/>
            <a:ext cx="612648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736"/>
                </a:solidFill>
                <a:latin typeface="Segoe UI Semibold"/>
              </a:rPr>
              <a:t>Animated score gauge, category scores, AI summary written by the local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645920"/>
            <a:ext cx="4370832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1709928"/>
            <a:ext cx="4242816" cy="17007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69479" y="3429000"/>
            <a:ext cx="4187952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736"/>
                </a:solidFill>
                <a:latin typeface="Segoe UI Semibold"/>
              </a:rPr>
              <a:t>Evidence and a ready fix snippet per finding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794760"/>
            <a:ext cx="4370832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3858768"/>
            <a:ext cx="4242816" cy="17007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69479" y="5577840"/>
            <a:ext cx="4187952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736"/>
                </a:solidFill>
                <a:latin typeface="Segoe UI Semibold"/>
              </a:rPr>
              <a:t>Agent chat with a collapsible tool trace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81344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788"/>
                </a:solidFill>
                <a:latin typeface="Segoe UI"/>
              </a:rPr>
              <a:t>Also: compare page  ·  score-trend chart  ·  Markdown export  ·  print stylesheet  ·  LLM mode badge in the header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66928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26D3"/>
                </a:solidFill>
                <a:latin typeface="Segoe UI Semibold"/>
              </a:rP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49808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1C1736"/>
                </a:solidFill>
                <a:latin typeface="Segoe UI Semibold"/>
              </a:rPr>
              <a:t>Bad page to good page in four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"/>
              </a:rPr>
              <a:t>AuditPilot  ·  Nikshey Yadav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 Semibold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719072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5295" y="1920240"/>
            <a:ext cx="548640" cy="54864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5" y="19202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1627632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C1736"/>
                </a:solidFill>
                <a:latin typeface="Segoe UI Semibold"/>
              </a:rPr>
              <a:t>Audit demo (bad)</a:t>
            </a: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score appears instantly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39" y="2743200"/>
            <a:ext cx="91441" cy="0"/>
          </a:xfrm>
          <a:prstGeom prst="line">
            <a:avLst/>
          </a:prstGeom>
          <a:ln w="25400">
            <a:solidFill>
              <a:srgbClr val="6B67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68880" y="1783080"/>
            <a:ext cx="1719072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54096" y="192024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54096" y="19202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560320"/>
            <a:ext cx="1627632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C1736"/>
                </a:solidFill>
                <a:latin typeface="Segoe UI Semibold"/>
              </a:rPr>
              <a:t>Read the findings</a:t>
            </a: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while AI writes summary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2743200"/>
            <a:ext cx="91440" cy="0"/>
          </a:xfrm>
          <a:prstGeom prst="line">
            <a:avLst/>
          </a:prstGeom>
          <a:ln w="25400">
            <a:solidFill>
              <a:srgbClr val="6B67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97680" y="1783080"/>
            <a:ext cx="1719072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82896" y="1920240"/>
            <a:ext cx="548640" cy="548640"/>
          </a:xfrm>
          <a:prstGeom prst="ellipse">
            <a:avLst/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19202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560320"/>
            <a:ext cx="1627632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C1736"/>
                </a:solidFill>
                <a:latin typeface="Segoe UI Semibold"/>
              </a:rPr>
              <a:t>Ask the agent</a:t>
            </a: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"what should I fix first?"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0" y="2743200"/>
            <a:ext cx="91440" cy="0"/>
          </a:xfrm>
          <a:prstGeom prst="line">
            <a:avLst/>
          </a:prstGeom>
          <a:ln w="25400">
            <a:solidFill>
              <a:srgbClr val="6B67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26480" y="1783080"/>
            <a:ext cx="1719072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11696" y="192024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1696" y="19202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560320"/>
            <a:ext cx="1627632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C1736"/>
                </a:solidFill>
                <a:latin typeface="Segoe UI Semibold"/>
              </a:rPr>
              <a:t>Audit demo (good)</a:t>
            </a: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same page, fixed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63840" y="2743200"/>
            <a:ext cx="91439" cy="0"/>
          </a:xfrm>
          <a:prstGeom prst="line">
            <a:avLst/>
          </a:prstGeom>
          <a:ln w="25400">
            <a:solidFill>
              <a:srgbClr val="6B67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955279" y="1783080"/>
            <a:ext cx="1719072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40496" y="192024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0496" y="19202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560320"/>
            <a:ext cx="1627632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C1736"/>
                </a:solidFill>
                <a:latin typeface="Segoe UI Semibold"/>
              </a:rPr>
              <a:t>Compare</a:t>
            </a: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54 to 96, 22 issues fixed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92640" y="2743200"/>
            <a:ext cx="91440" cy="0"/>
          </a:xfrm>
          <a:prstGeom prst="line">
            <a:avLst/>
          </a:prstGeom>
          <a:ln w="25400">
            <a:solidFill>
              <a:srgbClr val="6B67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84080" y="1783080"/>
            <a:ext cx="1719072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69296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69296" y="19202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2560320"/>
            <a:ext cx="1627632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C1736"/>
                </a:solidFill>
                <a:latin typeface="Segoe UI Semibold"/>
              </a:rPr>
              <a:t>Tool trace + MCP</a:t>
            </a: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200" b="0">
                <a:solidFill>
                  <a:srgbClr val="6B6788"/>
                </a:solidFill>
                <a:latin typeface="Segoe UI"/>
              </a:rPr>
              <a:t>same tools in Claude Code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069080"/>
            <a:ext cx="64008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133087"/>
            <a:ext cx="5486400" cy="1828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31520" y="5943600"/>
            <a:ext cx="6217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6788"/>
                </a:solidFill>
                <a:latin typeface="Segoe UI Semibold"/>
              </a:rPr>
              <a:t>Real compare page: 54 to 96 (+42)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4069080"/>
            <a:ext cx="4233672" cy="214884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0" y="4160520"/>
            <a:ext cx="384048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D28D9"/>
                </a:solidFill>
                <a:latin typeface="Segoe UI Semibold"/>
              </a:rPr>
              <a:t>Measured on this laptop</a:t>
            </a:r>
          </a:p>
          <a:p>
            <a:pPr algn="l">
              <a:lnSpc>
                <a:spcPct val="100000"/>
              </a:lnSpc>
              <a:spcBef>
                <a:spcPts val="630"/>
              </a:spcBef>
            </a:pPr>
            <a:r>
              <a:rPr sz="1400" b="0">
                <a:solidFill>
                  <a:srgbClr val="1C1736"/>
                </a:solidFill>
                <a:latin typeface="Segoe UI"/>
              </a:rPr>
              <a:t>Audit: tens of milliseconds</a:t>
            </a:r>
          </a:p>
          <a:p>
            <a:pPr algn="l">
              <a:lnSpc>
                <a:spcPct val="100000"/>
              </a:lnSpc>
              <a:spcBef>
                <a:spcPts val="630"/>
              </a:spcBef>
            </a:pPr>
            <a:r>
              <a:rPr sz="1400" b="0">
                <a:solidFill>
                  <a:srgbClr val="1C1736"/>
                </a:solidFill>
                <a:latin typeface="Segoe UI"/>
              </a:rPr>
              <a:t>AI summary: about 20 s (CPU)</a:t>
            </a:r>
          </a:p>
          <a:p>
            <a:pPr algn="l">
              <a:lnSpc>
                <a:spcPct val="100000"/>
              </a:lnSpc>
              <a:spcBef>
                <a:spcPts val="630"/>
              </a:spcBef>
            </a:pPr>
            <a:r>
              <a:rPr sz="1400" b="0">
                <a:solidFill>
                  <a:srgbClr val="1C1736"/>
                </a:solidFill>
                <a:latin typeface="Segoe UI"/>
              </a:rPr>
              <a:t>Chat answer: 15 to 30 s</a:t>
            </a:r>
          </a:p>
          <a:p>
            <a:pPr algn="l">
              <a:lnSpc>
                <a:spcPct val="100000"/>
              </a:lnSpc>
              <a:spcBef>
                <a:spcPts val="630"/>
              </a:spcBef>
            </a:pPr>
            <a:r>
              <a:rPr sz="1400" b="0">
                <a:solidFill>
                  <a:srgbClr val="1C1736"/>
                </a:solidFill>
                <a:latin typeface="Segoe UI Semibold"/>
              </a:rPr>
              <a:t>Scores never wait for the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66928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26D3"/>
                </a:solidFill>
                <a:latin typeface="Segoe UI Semibold"/>
              </a:rPr>
              <a:t>SECURITY AND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49808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1C1736"/>
                </a:solidFill>
                <a:latin typeface="Segoe UI Semibold"/>
              </a:rPr>
              <a:t>Built to be safe, proven by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"/>
              </a:rPr>
              <a:t>AuditPilot  ·  Nikshey Yadav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 Semibold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66928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D28D9"/>
                </a:solidFill>
                <a:latin typeface="Segoe UI Semibold"/>
              </a:rPr>
              <a:t>Security layers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79"/>
            <a:ext cx="91440" cy="54864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423160"/>
            <a:ext cx="50292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>
                <a:solidFill>
                  <a:srgbClr val="1C1736"/>
                </a:solidFill>
                <a:latin typeface="Segoe UI Semibold"/>
              </a:rPr>
              <a:t>SSRF guard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6B6788"/>
                </a:solidFill>
                <a:latin typeface="Segoe UI"/>
              </a:rPr>
              <a:t>http/https only, private + metadata IPs blocked, 3 redirects, 10 s, 2 MB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18687"/>
            <a:ext cx="91440" cy="5486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172968"/>
            <a:ext cx="50292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>
                <a:solidFill>
                  <a:srgbClr val="1C1736"/>
                </a:solidFill>
                <a:latin typeface="Segoe UI Semibold"/>
              </a:rPr>
              <a:t>JWT + bcrypt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6B6788"/>
                </a:solidFill>
                <a:latin typeface="Segoe UI"/>
              </a:rPr>
              <a:t>protected routes, hashed passwords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68496"/>
            <a:ext cx="91440" cy="5486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922776"/>
            <a:ext cx="50292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>
                <a:solidFill>
                  <a:srgbClr val="1C1736"/>
                </a:solidFill>
                <a:latin typeface="Segoe UI Semibold"/>
              </a:rPr>
              <a:t>Ownership checks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6B6788"/>
                </a:solidFill>
                <a:latin typeface="Segoe UI"/>
              </a:rPr>
              <a:t>other users' audits return 404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18303"/>
            <a:ext cx="91440" cy="5486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72583"/>
            <a:ext cx="50292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>
                <a:solidFill>
                  <a:srgbClr val="1C1736"/>
                </a:solidFill>
                <a:latin typeface="Segoe UI Semibold"/>
              </a:rPr>
              <a:t>helmet, CORS, rate limits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6B6788"/>
                </a:solidFill>
                <a:latin typeface="Segoe UI"/>
              </a:rPr>
              <a:t>per-user limits on audits and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468112"/>
            <a:ext cx="91440" cy="548640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422392"/>
            <a:ext cx="502920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>
                <a:solidFill>
                  <a:srgbClr val="1C1736"/>
                </a:solidFill>
                <a:latin typeface="Segoe UI Semibold"/>
              </a:rPr>
              <a:t>zod validation</a:t>
            </a:r>
          </a:p>
          <a:p>
            <a:pPr algn="l">
              <a:lnSpc>
                <a:spcPct val="95000"/>
              </a:lnSpc>
              <a:spcBef>
                <a:spcPts val="517"/>
              </a:spcBef>
            </a:pPr>
            <a:r>
              <a:rPr sz="1150" b="0">
                <a:solidFill>
                  <a:srgbClr val="6B6788"/>
                </a:solidFill>
                <a:latin typeface="Segoe UI"/>
              </a:rPr>
              <a:t>every input and every tool 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783080"/>
            <a:ext cx="4965192" cy="1874519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B21B6"/>
              </a:gs>
              <a:gs pos="100000">
                <a:srgbClr val="C026D3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4965192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>
                <a:solidFill>
                  <a:srgbClr val="FFFFFF"/>
                </a:solidFill>
                <a:latin typeface="Segoe UI Semibold"/>
              </a:rPr>
              <a:t>71 / 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26080"/>
            <a:ext cx="496519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5D0FE"/>
                </a:solidFill>
                <a:latin typeface="Segoe UI"/>
              </a:rPr>
              <a:t>tests passing  ·  npm 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840480"/>
            <a:ext cx="496519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931920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736"/>
                </a:solidFill>
                <a:latin typeface="Segoe UI"/>
              </a:rPr>
              <a:t>Checkers + scoring + 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3931920"/>
            <a:ext cx="7772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6D28D9"/>
                </a:solidFill>
                <a:latin typeface="Segoe UI Semibold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389120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736"/>
                </a:solidFill>
                <a:latin typeface="Segoe UI"/>
              </a:rPr>
              <a:t>SSRF 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4389120"/>
            <a:ext cx="7772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6D28D9"/>
                </a:solidFill>
                <a:latin typeface="Segoe UI Semibold"/>
              </a:rPr>
              <a:t>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846320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736"/>
                </a:solidFill>
                <a:latin typeface="Segoe UI"/>
              </a:rPr>
              <a:t>Auth, API, ownership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4846320"/>
            <a:ext cx="7772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6D28D9"/>
                </a:solidFill>
                <a:latin typeface="Segoe UI Semibold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303520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736"/>
                </a:solidFill>
                <a:latin typeface="Segoe UI"/>
              </a:rPr>
              <a:t>Agent, summary, SSE 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5303520"/>
            <a:ext cx="7772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6D28D9"/>
                </a:solidFill>
                <a:latin typeface="Segoe UI Semibold"/>
              </a:rPr>
              <a:t>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760720"/>
            <a:ext cx="3840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736"/>
                </a:solidFill>
                <a:latin typeface="Segoe UI"/>
              </a:rPr>
              <a:t>MCP stdio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5760720"/>
            <a:ext cx="7772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6D28D9"/>
                </a:solidFill>
                <a:latin typeface="Segoe UI Semibol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6181344"/>
            <a:ext cx="4754880" cy="91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0">
                <a:solidFill>
                  <a:srgbClr val="6B6788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66928"/>
            <a:ext cx="82296" cy="868680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26D3"/>
                </a:solidFill>
                <a:latin typeface="Segoe UI Semibold"/>
              </a:rP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49808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1C1736"/>
                </a:solidFill>
                <a:latin typeface="Segoe UI Semibold"/>
              </a:rPr>
              <a:t>What I learned, what was hard, what is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"/>
              </a:rPr>
              <a:t>AuditPilot  ·  Nikshey Yadav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6788"/>
                </a:solidFill>
                <a:latin typeface="Segoe UI Semibold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520440" cy="59436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31089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60320"/>
            <a:ext cx="320040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C1736"/>
                </a:solidFill>
                <a:latin typeface="Segoe UI"/>
              </a:rPr>
              <a:t>Full-stack MERN with auth</a:t>
            </a:r>
          </a:p>
          <a:p>
            <a:pPr algn="l">
              <a:lnSpc>
                <a:spcPct val="105000"/>
              </a:lnSpc>
              <a:spcBef>
                <a:spcPts val="810"/>
              </a:spcBef>
            </a:pPr>
            <a:r>
              <a:rPr sz="1800" b="0">
                <a:solidFill>
                  <a:srgbClr val="1C1736"/>
                </a:solidFill>
                <a:latin typeface="Segoe UI"/>
              </a:rPr>
              <a:t>JWT, validation, SSRF defence</a:t>
            </a:r>
          </a:p>
          <a:p>
            <a:pPr algn="l">
              <a:lnSpc>
                <a:spcPct val="105000"/>
              </a:lnSpc>
              <a:spcBef>
                <a:spcPts val="810"/>
              </a:spcBef>
            </a:pPr>
            <a:r>
              <a:rPr sz="1800" b="0">
                <a:solidFill>
                  <a:srgbClr val="1C1736"/>
                </a:solidFill>
                <a:latin typeface="Segoe UI"/>
              </a:rPr>
              <a:t>Agent loop and tool calling</a:t>
            </a:r>
          </a:p>
          <a:p>
            <a:pPr algn="l">
              <a:lnSpc>
                <a:spcPct val="105000"/>
              </a:lnSpc>
              <a:spcBef>
                <a:spcPts val="810"/>
              </a:spcBef>
            </a:pPr>
            <a:r>
              <a:rPr sz="1800" b="0">
                <a:solidFill>
                  <a:srgbClr val="1C1736"/>
                </a:solidFill>
                <a:latin typeface="Segoe UI"/>
              </a:rPr>
              <a:t>MCP: one registry, two clients</a:t>
            </a:r>
          </a:p>
          <a:p>
            <a:pPr algn="l">
              <a:lnSpc>
                <a:spcPct val="105000"/>
              </a:lnSpc>
              <a:spcBef>
                <a:spcPts val="810"/>
              </a:spcBef>
            </a:pPr>
            <a:r>
              <a:rPr sz="1800" b="0">
                <a:solidFill>
                  <a:srgbClr val="1C1736"/>
                </a:solidFill>
                <a:latin typeface="Segoe UI"/>
              </a:rPr>
              <a:t>Testing with a mock 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204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20440" cy="59436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31089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Challenges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60320"/>
            <a:ext cx="320040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C1736"/>
                </a:solidFill>
                <a:latin typeface="Segoe UI"/>
              </a:rPr>
              <a:t>A 3B model mangled an audit ID in a tool call: fixed with optional args and helpful errors</a:t>
            </a:r>
          </a:p>
          <a:p>
            <a:pPr algn="l">
              <a:lnSpc>
                <a:spcPct val="105000"/>
              </a:lnSpc>
              <a:spcBef>
                <a:spcPts val="810"/>
              </a:spcBef>
            </a:pPr>
            <a:r>
              <a:rPr sz="1800" b="0">
                <a:solidFill>
                  <a:srgbClr val="1C1736"/>
                </a:solidFill>
                <a:latin typeface="Segoe UI"/>
              </a:rPr>
              <a:t>CPU LLM takes 15 to 30 s: background summary and a queue</a:t>
            </a:r>
          </a:p>
          <a:p>
            <a:pPr algn="l">
              <a:lnSpc>
                <a:spcPct val="105000"/>
              </a:lnSpc>
              <a:spcBef>
                <a:spcPts val="810"/>
              </a:spcBef>
            </a:pPr>
            <a:r>
              <a:rPr sz="1800" b="0">
                <a:solidFill>
                  <a:srgbClr val="1C1736"/>
                </a:solidFill>
                <a:latin typeface="Segoe UI"/>
              </a:rPr>
              <a:t>Streaming with tool calls: tested on installed Ollama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783080"/>
            <a:ext cx="352044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19" y="1783080"/>
            <a:ext cx="3520440" cy="594360"/>
          </a:xfrm>
          <a:prstGeom prst="roundRect">
            <a:avLst>
              <a:gd name="adj" fmla="val 25000"/>
            </a:avLst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1783080"/>
            <a:ext cx="31089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560320"/>
            <a:ext cx="320040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C1736"/>
                </a:solidFill>
                <a:latin typeface="Segoe UI"/>
              </a:rPr>
              <a:t>Larger or fine-tuned models</a:t>
            </a:r>
          </a:p>
          <a:p>
            <a:pPr algn="l">
              <a:lnSpc>
                <a:spcPct val="105000"/>
              </a:lnSpc>
              <a:spcBef>
                <a:spcPts val="810"/>
              </a:spcBef>
            </a:pPr>
            <a:r>
              <a:rPr sz="1800" b="0">
                <a:solidFill>
                  <a:srgbClr val="1C1736"/>
                </a:solidFill>
                <a:latin typeface="Segoe UI"/>
              </a:rPr>
              <a:t>RAG over WCAG and OWASP docs</a:t>
            </a:r>
          </a:p>
          <a:p>
            <a:pPr algn="l">
              <a:lnSpc>
                <a:spcPct val="105000"/>
              </a:lnSpc>
              <a:spcBef>
                <a:spcPts val="810"/>
              </a:spcBef>
            </a:pPr>
            <a:r>
              <a:rPr sz="1800" b="0">
                <a:solidFill>
                  <a:srgbClr val="1C1736"/>
                </a:solidFill>
                <a:latin typeface="Segoe UI"/>
              </a:rPr>
              <a:t>Scheduled audits and alerts</a:t>
            </a:r>
          </a:p>
          <a:p>
            <a:pPr algn="l">
              <a:lnSpc>
                <a:spcPct val="105000"/>
              </a:lnSpc>
              <a:spcBef>
                <a:spcPts val="810"/>
              </a:spcBef>
            </a:pPr>
            <a:r>
              <a:rPr sz="1800" b="0">
                <a:solidFill>
                  <a:srgbClr val="1C1736"/>
                </a:solidFill>
                <a:latin typeface="Segoe UI"/>
              </a:rPr>
              <a:t>CI integration (fail on low score)</a:t>
            </a:r>
          </a:p>
          <a:p>
            <a:pPr algn="l">
              <a:lnSpc>
                <a:spcPct val="105000"/>
              </a:lnSpc>
              <a:spcBef>
                <a:spcPts val="810"/>
              </a:spcBef>
            </a:pPr>
            <a:r>
              <a:rPr sz="1800" b="0">
                <a:solidFill>
                  <a:srgbClr val="1C1736"/>
                </a:solidFill>
                <a:latin typeface="Segoe UI"/>
              </a:rPr>
              <a:t>More checks, JavaScript rendering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E1065"/>
            </a:gs>
            <a:gs pos="100000">
              <a:srgbClr val="A21CAF"/>
            </a:gs>
          </a:gsLst>
          <a:lin scaled="0" ang="19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F5D0FE"/>
                </a:solidFill>
                <a:latin typeface="Segoe UI"/>
              </a:rPr>
              <a:t>Questions and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37760"/>
            <a:ext cx="1219169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Segoe UI Semibold"/>
              </a:rPr>
              <a:t>Nikshey Yadav  ·  Roll No. 231302221</a:t>
            </a: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1400" b="0">
                <a:solidFill>
                  <a:srgbClr val="EDE9FE"/>
                </a:solidFill>
                <a:latin typeface="Segoe UI"/>
              </a:rPr>
              <a:t>AuditPilot  ·  B.Tech CSE (Data Science)  ·  SGT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