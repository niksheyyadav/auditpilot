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Namaste, main Nikshey Yadav hoon, SGT University se B.Tech CSE Data Science, 7th semester.</a:t>
            </a:r>
          </a:p>
          <a:p>
            <a:r>
              <a:t>Meri training AccioJobs Pvt. Ltd. mein thi, aur ye mera project hai: AuditPilot.</a:t>
            </a:r>
          </a:p>
          <a:p>
            <a:r>
              <a:t>AuditPilot ek AI website audit agent hai: tools facts nikalte hain, local open-source LLM unhe explain karta hai.</a:t>
            </a:r>
          </a:p>
          <a:p>
            <a:r>
              <a:t>Slide par jo 54 aur 96 hai, wo mere project ke do demo pages ka asli audit score hai.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Training mein humne HTML, CSS, JavaScript, React, AI aur AI agents seekhe, Node.js thoda, aur MCP ke basics.</a:t>
            </a:r>
          </a:p>
          <a:p>
            <a:r>
              <a:t>Ye pehli panch cards training ka roadmap hain.</a:t>
            </a:r>
          </a:p>
          <a:p>
            <a:r>
              <a:t>Express, MongoDB aur JWT training mein cover nahi hue the. Inhe maine Claude Code ke saath AI-assisted development se seekha aur is project mein use kiya.</a:t>
            </a:r>
          </a:p>
          <a:p>
            <a:r>
              <a:t>Main ye openly bata raha hoon, aur har feature explain kar sakta hoon.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Problem ye hai ki website quality ke liye alag alag tools chalane padte hain: SEO, accessibility, security, performance.</a:t>
            </a:r>
          </a:p>
          <a:p>
            <a:r>
              <a:t>Aur report mein sirf raw data hota hai, ye samajh nahi aata ki pehle kya fix karein.</a:t>
            </a:r>
          </a:p>
          <a:p>
            <a:r>
              <a:t>AuditPilot URL leta hai, 29 checks chalata hai, score aur evidence deta hai. Phir local AI batata hai ki kya pehle fix karna hai.</a:t>
            </a:r>
          </a:p>
          <a:p>
            <a:r>
              <a:t>Objective: website quality ko samajhna aur fix karna aasan banana.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Frontend React 19 aur Vite hai, charts ke liye Recharts.</a:t>
            </a:r>
          </a:p>
          <a:p>
            <a:r>
              <a:t>Backend Express 5 hai, MongoDB Mongoose ke saath, login ke liye JWT aur bcrypt.</a:t>
            </a:r>
          </a:p>
          <a:p>
            <a:r>
              <a:t>AI ke liye Ollama par open-source model qwen2.5:3b chalta hai: private, free, aur offline kaam karta hai.</a:t>
            </a:r>
          </a:p>
          <a:p>
            <a:r>
              <a:t>MCP SDK se same tools Claude Code mein bhi chalte hain, aur Vitest se 86 tests likhe 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Ye architecture hai. Browser mein React UI Express API se baat karta hai.</a:t>
            </a:r>
          </a:p>
          <a:p>
            <a:r>
              <a:t>Hari line deterministic path hai: Express audit engine ko call karta hai, jo SSRF guard ke saath target website fetch karta hai. Isme LLM nahi hai.</a:t>
            </a:r>
          </a:p>
          <a:p>
            <a:r>
              <a:t>Orange line AI path hai: agent loop queue ke through local Ollama model se baat karta hai.</a:t>
            </a:r>
          </a:p>
          <a:p>
            <a:r>
              <a:t>Same tool registry MCP server ke through Claude Code ko bhi milti hai, aur sab data MongoDB mein save hota hai.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principle ye hai: tools facts compute karte hain, LLM sirf explain karta hai.</a:t>
            </a:r>
          </a:p>
          <a:p>
            <a:r>
              <a:t>Chat mein current audit ka data pehle se prompt mein hota hai, to zyada sawal bina tool ke solve ho jaate hain.</a:t>
            </a:r>
          </a:p>
          <a:p>
            <a:r>
              <a:t>Agar zarurat ho to model tool maangta hai, server zod se arguments validate karke tool chalata hai, aur result wapas model ko deta hai.</a:t>
            </a:r>
          </a:p>
          <a:p>
            <a:r>
              <a:t>Guardrails: maximum 5 steps, galat arguments par ek retry, user sirf apne audits dekh sakta hai, aur ek time par ek hi LLM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Database MongoDB mein hai. Teen collections hain: User, Audit aur Schedule.</a:t>
            </a:r>
          </a:p>
          <a:p>
            <a:r>
              <a:t>Ek user ke bahut saare audits aur schedules hote hain. Audit mein index user, url aur createdAt par hai.</a:t>
            </a:r>
          </a:p>
          <a:p>
            <a:r>
              <a:t>Findings, chat messages aur tool calls Audit document ke andar embedded hain, isliye ek query mein poori report mil jaati hai.</a:t>
            </a:r>
          </a:p>
          <a:p>
            <a:r>
              <a:t>Schedule collection timed audits ke liye hai: kitne ghante baad dobara audit karna hai.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Ye saare screenshots running app se Playwright se liye hain, asli local model qwen2.5:3b ke saath, aur real website nikshey.xyz ke audit par. Koi mock ya seeded text nahi hai.</a:t>
            </a:r>
          </a:p>
          <a:p>
            <a:r>
              <a:t>Pehla: animated score gauge, chaar category scores aur AI summary. Doosra: har finding mein evidence aur Nginx ya Express fix snippet.</a:t>
            </a:r>
          </a:p>
          <a:p>
            <a:r>
              <a:t>Teesra: agent chat, aur collapsible tool trace jisme tool ka naam, args aur time dikhta hai.</a:t>
            </a:r>
          </a:p>
          <a:p>
            <a:r>
              <a:t>Neeche chhe modules hain: audit engine, AI summary aur chat, compare aur trend, history aur sign-in, scheduled audits, aur JavaScript rendering.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ka flow: pehle demo bad page audit karte hain, score 54 aata hai, turant, bina LLM ke.</a:t>
            </a:r>
          </a:p>
          <a:p>
            <a:r>
              <a:t>Findings dekhte hain, aur jab tak local model summary likhta hai, hum findings par baat karte hain. Phir agent se puchte hain: what should I fix first.</a:t>
            </a:r>
          </a:p>
          <a:p>
            <a:r>
              <a:t>Phir demo good page audit karte hain, score 96, aur compare page par 22 issues fixed dikhte hain. Aakhir mein real website nikshey.xyz ka audit, tool trace aur MCP.</a:t>
            </a:r>
          </a:p>
          <a:p>
            <a:r>
              <a:t>Ye numbers asli hain: laptop par CPU par model chalta hai, isliye AI answer mein 15 se 40 second lag sakte 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Kyunki hum user ka diya URL fetch karte hain, SSRF guard zaroori hai: sirf http aur https, private aur localhost addresses block, metadata address block, max 3 redirects, 10 second timeout, 2 MB limit.</a:t>
            </a:r>
          </a:p>
          <a:p>
            <a:r>
              <a:t>Login JWT se hai, passwords bcrypt se hash hote hain, helmet aur rate limit lage hain, aur ek user doosre ka audit nahi dekh sakta.</a:t>
            </a:r>
          </a:p>
          <a:p>
            <a:r>
              <a:t>Testing mein 86 tests hain aur sab pass hote hain: 19 checker aur scoring, 21 SSRF, 10 API aur auth, 18 agent, 8 nayi features ke (render, schedule, short refs), 7 history aur sign-in ke, aur 3 MCP ke.</a:t>
            </a:r>
          </a:p>
          <a:p>
            <a:r>
              <a:t>Asli local model ke liye alag opt-in suite hai, npm run test:live, jisme 4 tests asli qwen2.5:3b par chalte 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Seekha: poora MERN stack, JWT, SSRF jaise security risks, agent loop aur tool calling, MCP, aur testing.</a:t>
            </a:r>
          </a:p>
          <a:p>
            <a:r>
              <a:t>Challenge: chhota 3B local model kabhi tool ke arguments galat bana deta tha, jaise audit ID mangle kar dena. Maine short refs aur title se lookup add kiya.</a:t>
            </a:r>
          </a:p>
          <a:p>
            <a:r>
              <a:t>Local model CPU par slow hai, isliye summary background mein, queue, aur server start par auto warm-up. JavaScript se bane pages ke liye optional headless render add kiya.</a:t>
            </a:r>
          </a:p>
          <a:p>
            <a:r>
              <a:t>Future: bada ya fine-tuned model, docs par RAG, email alerts, CI integration, aur zyada checks.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Dhanyavaad. AuditPilot mein tools facts nikalte hain, local open-source LLM unhe explain karta hai, aur sab kuch aapke laptop par chalta hai.</a:t>
            </a:r>
          </a:p>
          <a:p>
            <a:r>
              <a:t>Ab main aapke sawalon ke liye taiyaar hoon.</a:t>
            </a:r>
          </a:p>
          <a:p>
            <a:r>
              <a:t>Agar aap chahein to main live demo dobara dikha sakta hoon, ya koi bhi feature detail mein explain kar sakta hoon.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2E1065"/>
            </a:gs>
            <a:gs pos="100000">
              <a:srgbClr val="A21CAF"/>
            </a:gs>
          </a:gsLst>
          <a:lin scaled="0" ang="19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5D0FE"/>
                </a:solidFill>
                <a:latin typeface="Segoe UI Semibold"/>
              </a:rPr>
              <a:t>ACCIOJOBS PVT. LTD.  ·  INDUSTRIAL TRAINING PROJECT (IT-2)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68580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0">
                <a:solidFill>
                  <a:srgbClr val="FFFFFF"/>
                </a:solidFill>
                <a:latin typeface="Segoe UI Semibold"/>
              </a:rPr>
              <a:t>AuditPilot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7480"/>
            <a:ext cx="658368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>
                <a:solidFill>
                  <a:srgbClr val="EDE9FE"/>
                </a:solidFill>
                <a:latin typeface="Segoe UI"/>
              </a:rPr>
              <a:t>An AI website audit agent. Tools compute the facts; a local open-source LLM explains them.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4069080"/>
            <a:ext cx="822960" cy="54864"/>
          </a:xfrm>
          <a:prstGeom prst="roundRect">
            <a:avLst>
              <a:gd name="adj" fmla="val 50000"/>
            </a:avLst>
          </a:prstGeom>
          <a:solidFill>
            <a:srgbClr val="F0A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06240"/>
            <a:ext cx="68580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FFFFFF"/>
                </a:solidFill>
                <a:latin typeface="Segoe UI Semibold"/>
              </a:rPr>
              <a:t>Nikshey Yadav  ·  Roll No. 231302221</a:t>
            </a:r>
          </a:p>
          <a:p>
            <a:pPr algn="l">
              <a:lnSpc>
                <a:spcPct val="100000"/>
              </a:lnSpc>
              <a:spcBef>
                <a:spcPts val="675"/>
              </a:spcBef>
            </a:pPr>
            <a:r>
              <a:rPr sz="1500" b="0">
                <a:solidFill>
                  <a:srgbClr val="EDE9FE"/>
                </a:solidFill>
                <a:latin typeface="Segoe UI"/>
              </a:rPr>
              <a:t>B.Tech CSE (Data Science)  ·  7th Semester  ·  SGT University</a:t>
            </a:r>
          </a:p>
          <a:p>
            <a:pPr algn="l">
              <a:lnSpc>
                <a:spcPct val="100000"/>
              </a:lnSpc>
              <a:spcBef>
                <a:spcPts val="675"/>
              </a:spcBef>
            </a:pPr>
            <a:r>
              <a:rPr sz="1500" b="0">
                <a:solidFill>
                  <a:srgbClr val="EDE9FE"/>
                </a:solidFill>
                <a:latin typeface="Segoe UI"/>
              </a:rPr>
              <a:t>Training: AccioJobs Pvt. Ltd.  ·  8 August to 18 March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26480"/>
            <a:ext cx="6858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0ABFC"/>
                </a:solidFill>
                <a:latin typeface="Segoe UI Semibold"/>
              </a:rPr>
              <a:t>REACT  ·  EXPRESS  ·  MONGODB  ·  OLLAMA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325880"/>
            <a:ext cx="3383280" cy="39319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508760"/>
            <a:ext cx="33832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SAME PAGE, BEFORE AND AFTER FIXES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920240"/>
            <a:ext cx="146304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0">
                <a:solidFill>
                  <a:srgbClr val="D97706"/>
                </a:solidFill>
                <a:latin typeface="Segoe UI Semibold"/>
              </a:rPr>
              <a:t>54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1920240"/>
            <a:ext cx="146304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0">
                <a:solidFill>
                  <a:srgbClr val="059669"/>
                </a:solidFill>
                <a:latin typeface="Segoe UI Semibold"/>
              </a:rPr>
              <a:t>96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555480" y="2514600"/>
            <a:ext cx="457200" cy="0"/>
          </a:xfrm>
          <a:prstGeom prst="line">
            <a:avLst/>
          </a:prstGeom>
          <a:ln w="38100">
            <a:solidFill>
              <a:srgbClr val="6B67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0" y="2971800"/>
            <a:ext cx="1463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B6788"/>
                </a:solidFill>
                <a:latin typeface="Segoe UI Semibold"/>
              </a:rPr>
              <a:t>/demo/bad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2971800"/>
            <a:ext cx="1463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B6788"/>
                </a:solidFill>
                <a:latin typeface="Segoe UI Semibold"/>
              </a:rPr>
              <a:t>/demo/good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65760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0">
                <a:solidFill>
                  <a:srgbClr val="6D28D9"/>
                </a:solidFill>
                <a:latin typeface="Segoe UI Semibold"/>
              </a:rPr>
              <a:t>+42 points</a:t>
            </a:r>
          </a:p>
          <a:p>
            <a:pPr algn="ctr">
              <a:lnSpc>
                <a:spcPct val="100000"/>
              </a:lnSpc>
              <a:spcBef>
                <a:spcPts val="540"/>
              </a:spcBef>
            </a:pPr>
            <a:r>
              <a:rPr sz="1200" b="0">
                <a:solidFill>
                  <a:srgbClr val="6B6788"/>
                </a:solidFill>
                <a:latin typeface="Segoe UI"/>
              </a:rPr>
              <a:t>Real scores from the running app, computed with no LLM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66928"/>
            <a:ext cx="82296" cy="868680"/>
          </a:xfrm>
          <a:prstGeom prst="roundRect">
            <a:avLst>
              <a:gd name="adj" fmla="val 50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329184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C026D3"/>
                </a:solidFill>
                <a:latin typeface="Segoe UI Semibold"/>
              </a:rPr>
              <a:t>TRAINING  / 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SETTING THE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04672"/>
            <a:ext cx="106070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C1736"/>
                </a:solidFill>
                <a:latin typeface="Segoe UI Semibold"/>
              </a:rPr>
              <a:t>Training Context &amp; Learning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9875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"/>
              </a:rPr>
              <a:t>Training covered the first five; Express, MongoDB and JWT were learned with AI-assisted development (Claude Code).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2  /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059669"/>
                </a:solidFill>
                <a:latin typeface="Segoe UI Semibold"/>
              </a:rPr>
              <a:t>COVERED IN TRAINING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011680"/>
            <a:ext cx="20116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214884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743200"/>
            <a:ext cx="18288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HTML + CSS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structure and layout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51760" y="2788920"/>
            <a:ext cx="182880" cy="36576"/>
          </a:xfrm>
          <a:prstGeom prst="roundRect">
            <a:avLst>
              <a:gd name="adj" fmla="val 50000"/>
            </a:avLst>
          </a:prstGeom>
          <a:solidFill>
            <a:srgbClr val="E6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834639" y="2011680"/>
            <a:ext cx="20116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71799" y="214884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799" y="21488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44368" y="2743200"/>
            <a:ext cx="18288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JavaScript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logic, events, data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46320" y="2788920"/>
            <a:ext cx="182880" cy="36576"/>
          </a:xfrm>
          <a:prstGeom prst="roundRect">
            <a:avLst>
              <a:gd name="adj" fmla="val 50000"/>
            </a:avLst>
          </a:prstGeom>
          <a:solidFill>
            <a:srgbClr val="E6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29200" y="2011680"/>
            <a:ext cx="20116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166360" y="214884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66360" y="21488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8928" y="2743200"/>
            <a:ext cx="18288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React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components, state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40880" y="2788920"/>
            <a:ext cx="182880" cy="36576"/>
          </a:xfrm>
          <a:prstGeom prst="roundRect">
            <a:avLst>
              <a:gd name="adj" fmla="val 50000"/>
            </a:avLst>
          </a:prstGeom>
          <a:solidFill>
            <a:srgbClr val="E6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223759" y="2011680"/>
            <a:ext cx="20116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60919" y="214884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60919" y="21488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33488" y="2743200"/>
            <a:ext cx="18288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AI + AI agents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LLMs, tool calling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235440" y="2788920"/>
            <a:ext cx="182880" cy="36576"/>
          </a:xfrm>
          <a:prstGeom prst="roundRect">
            <a:avLst>
              <a:gd name="adj" fmla="val 50000"/>
            </a:avLst>
          </a:prstGeom>
          <a:solidFill>
            <a:srgbClr val="E6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418319" y="2011680"/>
            <a:ext cx="20116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555480" y="214884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55480" y="21488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28047" y="2743200"/>
            <a:ext cx="18288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Node.js + MCP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a little, basics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39319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D28D9"/>
                </a:solidFill>
                <a:latin typeface="Segoe UI Semibold"/>
              </a:rPr>
              <a:t>EXTENDED BEYOND TRAINING (AI-ASSISTED DEVELOPMENT WITH CLAUDE CODE)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4251960"/>
            <a:ext cx="3520440" cy="1143000"/>
          </a:xfrm>
          <a:prstGeom prst="roundRect">
            <a:avLst>
              <a:gd name="adj" fmla="val 6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77240" y="443484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44348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4389120"/>
            <a:ext cx="269748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1C1736"/>
                </a:solidFill>
                <a:latin typeface="Segoe UI Semibold"/>
              </a:rPr>
              <a:t>Express</a:t>
            </a:r>
          </a:p>
          <a:p>
            <a:pPr algn="l">
              <a:lnSpc>
                <a:spcPct val="100000"/>
              </a:lnSpc>
              <a:spcBef>
                <a:spcPts val="540"/>
              </a:spcBef>
            </a:pPr>
            <a:r>
              <a:rPr sz="1200" b="0">
                <a:solidFill>
                  <a:srgbClr val="6B6788"/>
                </a:solidFill>
                <a:latin typeface="Segoe UI"/>
              </a:rPr>
              <a:t>REST API, SSE streaming, middleware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43400" y="4251960"/>
            <a:ext cx="3520440" cy="1143000"/>
          </a:xfrm>
          <a:prstGeom prst="roundRect">
            <a:avLst>
              <a:gd name="adj" fmla="val 6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480560" y="443484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80560" y="44348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74920" y="4389120"/>
            <a:ext cx="269748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1C1736"/>
                </a:solidFill>
                <a:latin typeface="Segoe UI Semibold"/>
              </a:rPr>
              <a:t>MongoDB</a:t>
            </a:r>
          </a:p>
          <a:p>
            <a:pPr algn="l">
              <a:lnSpc>
                <a:spcPct val="100000"/>
              </a:lnSpc>
              <a:spcBef>
                <a:spcPts val="540"/>
              </a:spcBef>
            </a:pPr>
            <a:r>
              <a:rPr sz="1200" b="0">
                <a:solidFill>
                  <a:srgbClr val="6B6788"/>
                </a:solidFill>
                <a:latin typeface="Segoe UI"/>
              </a:rPr>
              <a:t>Mongoose models and indexes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46719" y="4251960"/>
            <a:ext cx="3520440" cy="1143000"/>
          </a:xfrm>
          <a:prstGeom prst="roundRect">
            <a:avLst>
              <a:gd name="adj" fmla="val 6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183879" y="443484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83879" y="44348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08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78240" y="4389120"/>
            <a:ext cx="269748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1C1736"/>
                </a:solidFill>
                <a:latin typeface="Segoe UI Semibold"/>
              </a:rPr>
              <a:t>JWT</a:t>
            </a:r>
          </a:p>
          <a:p>
            <a:pPr algn="l">
              <a:lnSpc>
                <a:spcPct val="100000"/>
              </a:lnSpc>
              <a:spcBef>
                <a:spcPts val="540"/>
              </a:spcBef>
            </a:pPr>
            <a:r>
              <a:rPr sz="1200" b="0">
                <a:solidFill>
                  <a:srgbClr val="6B6788"/>
                </a:solidFill>
                <a:latin typeface="Segoe UI"/>
              </a:rPr>
              <a:t>login and protected routes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0080" y="5669280"/>
            <a:ext cx="10908792" cy="502920"/>
          </a:xfrm>
          <a:prstGeom prst="roundRect">
            <a:avLst>
              <a:gd name="adj" fmla="val 3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" y="5669280"/>
            <a:ext cx="1051560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92400E"/>
                </a:solidFill>
                <a:latin typeface="Segoe UI Semibold"/>
              </a:rPr>
              <a:t>Current foundation:  HTML  ·  CSS  ·  JavaScript  ·  React  +  Express, MongoDB, JWT  +  a local LLM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66928"/>
            <a:ext cx="82296" cy="868680"/>
          </a:xfrm>
          <a:prstGeom prst="roundRect">
            <a:avLst>
              <a:gd name="adj" fmla="val 50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329184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C026D3"/>
                </a:solidFill>
                <a:latin typeface="Segoe UI Semibold"/>
              </a:rPr>
              <a:t>TRAINING  / 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PROBLEM TO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04672"/>
            <a:ext cx="106070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C1736"/>
                </a:solidFill>
                <a:latin typeface="Segoe UI Semibold"/>
              </a:rPr>
              <a:t>Project Overview: AuditPilot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9875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"/>
              </a:rPr>
              <a:t>Project status: implemented, tested and demo-ready. Scores are deterministic; the AI only explains them.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3  / 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4754880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9728" cy="3429000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920240"/>
            <a:ext cx="4206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E11D48"/>
                </a:solidFill>
                <a:latin typeface="Segoe UI Semibold"/>
              </a:rPr>
              <a:t>THE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377440"/>
            <a:ext cx="420624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1C1736"/>
                </a:solidFill>
                <a:latin typeface="Segoe UI Semibold"/>
              </a:rPr>
              <a:t>Quality checks are manual</a:t>
            </a:r>
          </a:p>
          <a:p>
            <a:pPr algn="l">
              <a:lnSpc>
                <a:spcPct val="100000"/>
              </a:lnSpc>
              <a:spcBef>
                <a:spcPts val="630"/>
              </a:spcBef>
            </a:pPr>
            <a:r>
              <a:rPr sz="1400" b="0">
                <a:solidFill>
                  <a:srgbClr val="6B6788"/>
                </a:solidFill>
                <a:latin typeface="Segoe UI"/>
              </a:rPr>
              <a:t>A different tool for SEO, accessibility, security and speed.</a:t>
            </a:r>
          </a:p>
          <a:p>
            <a:pPr algn="l">
              <a:lnSpc>
                <a:spcPct val="100000"/>
              </a:lnSpc>
              <a:spcBef>
                <a:spcPts val="855"/>
              </a:spcBef>
            </a:pPr>
            <a:r>
              <a:rPr sz="1900" b="0">
                <a:solidFill>
                  <a:srgbClr val="1C1736"/>
                </a:solidFill>
                <a:latin typeface="Segoe UI Semibold"/>
              </a:rPr>
              <a:t>Reports are raw data</a:t>
            </a:r>
          </a:p>
          <a:p>
            <a:pPr algn="l">
              <a:lnSpc>
                <a:spcPct val="100000"/>
              </a:lnSpc>
              <a:spcBef>
                <a:spcPts val="630"/>
              </a:spcBef>
            </a:pPr>
            <a:r>
              <a:rPr sz="1400" b="0">
                <a:solidFill>
                  <a:srgbClr val="6B6788"/>
                </a:solidFill>
                <a:latin typeface="Segoe UI"/>
              </a:rPr>
              <a:t>Hundreds of lines, no clear priority.</a:t>
            </a:r>
          </a:p>
          <a:p>
            <a:pPr algn="l">
              <a:lnSpc>
                <a:spcPct val="100000"/>
              </a:lnSpc>
              <a:spcBef>
                <a:spcPts val="855"/>
              </a:spcBef>
            </a:pPr>
            <a:r>
              <a:rPr sz="1900" b="0">
                <a:solidFill>
                  <a:srgbClr val="1C1736"/>
                </a:solidFill>
                <a:latin typeface="Segoe UI Semibold"/>
              </a:rPr>
              <a:t>Cloud AI is not always allowed</a:t>
            </a:r>
          </a:p>
          <a:p>
            <a:pPr algn="l">
              <a:lnSpc>
                <a:spcPct val="100000"/>
              </a:lnSpc>
              <a:spcBef>
                <a:spcPts val="630"/>
              </a:spcBef>
            </a:pPr>
            <a:r>
              <a:rPr sz="1400" b="0">
                <a:solidFill>
                  <a:srgbClr val="6B6788"/>
                </a:solidFill>
                <a:latin typeface="Segoe UI"/>
              </a:rPr>
              <a:t>Site data may be private.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486400" y="3474720"/>
            <a:ext cx="914400" cy="0"/>
          </a:xfrm>
          <a:prstGeom prst="line">
            <a:avLst/>
          </a:prstGeom>
          <a:ln w="50800">
            <a:solidFill>
              <a:srgbClr val="C026D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492240" y="1783080"/>
            <a:ext cx="5056632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92240" y="1783080"/>
            <a:ext cx="109728" cy="342900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0" y="1920240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59669"/>
                </a:solidFill>
                <a:latin typeface="Segoe UI Semibold"/>
              </a:rPr>
              <a:t>THE SOLUTION: AUDITPILOT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377440"/>
            <a:ext cx="457200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1C1736"/>
                </a:solidFill>
                <a:latin typeface="Segoe UI Semibold"/>
              </a:rPr>
              <a:t>One URL, 29 checks</a:t>
            </a:r>
          </a:p>
          <a:p>
            <a:pPr algn="l">
              <a:lnSpc>
                <a:spcPct val="100000"/>
              </a:lnSpc>
              <a:spcBef>
                <a:spcPts val="630"/>
              </a:spcBef>
            </a:pPr>
            <a:r>
              <a:rPr sz="1400" b="0">
                <a:solidFill>
                  <a:srgbClr val="6B6788"/>
                </a:solidFill>
                <a:latin typeface="Segoe UI"/>
              </a:rPr>
              <a:t>Scores and evidence in milliseconds.</a:t>
            </a:r>
          </a:p>
          <a:p>
            <a:pPr algn="l">
              <a:lnSpc>
                <a:spcPct val="100000"/>
              </a:lnSpc>
              <a:spcBef>
                <a:spcPts val="855"/>
              </a:spcBef>
            </a:pPr>
            <a:r>
              <a:rPr sz="1900" b="0">
                <a:solidFill>
                  <a:srgbClr val="1C1736"/>
                </a:solidFill>
                <a:latin typeface="Segoe UI Semibold"/>
              </a:rPr>
              <a:t>A local AI explains</a:t>
            </a:r>
          </a:p>
          <a:p>
            <a:pPr algn="l">
              <a:lnSpc>
                <a:spcPct val="100000"/>
              </a:lnSpc>
              <a:spcBef>
                <a:spcPts val="630"/>
              </a:spcBef>
            </a:pPr>
            <a:r>
              <a:rPr sz="1400" b="0">
                <a:solidFill>
                  <a:srgbClr val="6B6788"/>
                </a:solidFill>
                <a:latin typeface="Segoe UI"/>
              </a:rPr>
              <a:t>Summary, fix plan and chat on your laptop.</a:t>
            </a:r>
          </a:p>
          <a:p>
            <a:pPr algn="l">
              <a:lnSpc>
                <a:spcPct val="100000"/>
              </a:lnSpc>
              <a:spcBef>
                <a:spcPts val="855"/>
              </a:spcBef>
            </a:pPr>
            <a:r>
              <a:rPr sz="1900" b="0">
                <a:solidFill>
                  <a:srgbClr val="1C1736"/>
                </a:solidFill>
                <a:latin typeface="Segoe UI Semibold"/>
              </a:rPr>
              <a:t>Compare, schedule, render JS</a:t>
            </a:r>
          </a:p>
          <a:p>
            <a:pPr algn="l">
              <a:lnSpc>
                <a:spcPct val="100000"/>
              </a:lnSpc>
              <a:spcBef>
                <a:spcPts val="630"/>
              </a:spcBef>
            </a:pPr>
            <a:r>
              <a:rPr sz="1400" b="0">
                <a:solidFill>
                  <a:srgbClr val="6B6788"/>
                </a:solidFill>
                <a:latin typeface="Segoe UI"/>
              </a:rPr>
              <a:t>Before and after, timed audits, client-side apps.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40680"/>
            <a:ext cx="10908792" cy="731520"/>
          </a:xfrm>
          <a:prstGeom prst="roundRect">
            <a:avLst>
              <a:gd name="adj" fmla="val 25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44068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6D28D9"/>
                </a:solidFill>
                <a:latin typeface="Segoe UI Semibold"/>
              </a:rPr>
              <a:t>Objective: make website quality easy to measure, understand and fix, without sending data to the cloud.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66928"/>
            <a:ext cx="82296" cy="868680"/>
          </a:xfrm>
          <a:prstGeom prst="roundRect">
            <a:avLst>
              <a:gd name="adj" fmla="val 50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329184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C026D3"/>
                </a:solidFill>
                <a:latin typeface="Segoe UI Semibold"/>
              </a:rPr>
              <a:t>TRAINING  /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WHAT EACH TECHNOLOGY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04672"/>
            <a:ext cx="106070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C1736"/>
                </a:solidFill>
                <a:latin typeface="Segoe UI Semibold"/>
              </a:rPr>
              <a:t>Technology Stack &amp;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9875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"/>
              </a:rPr>
              <a:t>Everything runs locally: no paid or cloud AI APIs. 86 automated tests cover the server.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4  / 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260604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2606040" cy="109728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19" y="1984248"/>
            <a:ext cx="2423160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React 19 + Vite</a:t>
            </a:r>
          </a:p>
          <a:p>
            <a:pPr algn="l">
              <a:lnSpc>
                <a:spcPct val="100000"/>
              </a:lnSpc>
              <a:spcBef>
                <a:spcPts val="427"/>
              </a:spcBef>
            </a:pPr>
            <a:r>
              <a:rPr sz="950" b="0">
                <a:solidFill>
                  <a:srgbClr val="6D28D9"/>
                </a:solidFill>
                <a:latin typeface="Segoe UI Semibold"/>
              </a:rPr>
              <a:t>INTERFACE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fast component UI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783080"/>
            <a:ext cx="260604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83280" y="1783080"/>
            <a:ext cx="2606040" cy="109728"/>
          </a:xfrm>
          <a:prstGeom prst="roundRect">
            <a:avLst>
              <a:gd name="adj" fmla="val 50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984248"/>
            <a:ext cx="2423160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Express 5</a:t>
            </a:r>
          </a:p>
          <a:p>
            <a:pPr algn="l">
              <a:lnSpc>
                <a:spcPct val="100000"/>
              </a:lnSpc>
              <a:spcBef>
                <a:spcPts val="427"/>
              </a:spcBef>
            </a:pPr>
            <a:r>
              <a:rPr sz="950" b="0">
                <a:solidFill>
                  <a:srgbClr val="C026D3"/>
                </a:solidFill>
                <a:latin typeface="Segoe UI Semibold"/>
              </a:rPr>
              <a:t>SERVER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REST API and SSE streaming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783080"/>
            <a:ext cx="260604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26480" y="1783080"/>
            <a:ext cx="2606040" cy="10972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984248"/>
            <a:ext cx="2423160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MongoDB + Mongoose</a:t>
            </a:r>
          </a:p>
          <a:p>
            <a:pPr algn="l">
              <a:lnSpc>
                <a:spcPct val="100000"/>
              </a:lnSpc>
              <a:spcBef>
                <a:spcPts val="427"/>
              </a:spcBef>
            </a:pPr>
            <a:r>
              <a:rPr sz="950" b="0">
                <a:solidFill>
                  <a:srgbClr val="059669"/>
                </a:solidFill>
                <a:latin typeface="Segoe UI Semibold"/>
              </a:rPr>
              <a:t>DATA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nested audit documents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69680" y="1783080"/>
            <a:ext cx="260604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69680" y="1783080"/>
            <a:ext cx="2606040" cy="10972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19" y="1984248"/>
            <a:ext cx="2423160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JWT + bcrypt</a:t>
            </a:r>
          </a:p>
          <a:p>
            <a:pPr algn="l">
              <a:lnSpc>
                <a:spcPct val="100000"/>
              </a:lnSpc>
              <a:spcBef>
                <a:spcPts val="427"/>
              </a:spcBef>
            </a:pPr>
            <a:r>
              <a:rPr sz="950" b="0">
                <a:solidFill>
                  <a:srgbClr val="2563EB"/>
                </a:solidFill>
                <a:latin typeface="Segoe UI Semibold"/>
              </a:rPr>
              <a:t>AUTH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stateless login, hashed passwords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200400"/>
            <a:ext cx="260604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" y="3200400"/>
            <a:ext cx="2606040" cy="109728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19" y="3401568"/>
            <a:ext cx="2423160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cheerio + playwright-core</a:t>
            </a:r>
          </a:p>
          <a:p>
            <a:pPr algn="l">
              <a:lnSpc>
                <a:spcPct val="100000"/>
              </a:lnSpc>
              <a:spcBef>
                <a:spcPts val="427"/>
              </a:spcBef>
            </a:pPr>
            <a:r>
              <a:rPr sz="950" b="0">
                <a:solidFill>
                  <a:srgbClr val="D97706"/>
                </a:solidFill>
                <a:latin typeface="Segoe UI Semibold"/>
              </a:rPr>
              <a:t>AUDIT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HTML parsing, optional JS render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83280" y="3200400"/>
            <a:ext cx="260604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383280" y="3200400"/>
            <a:ext cx="2606040" cy="109728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74720" y="3401568"/>
            <a:ext cx="2423160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Recharts + zod</a:t>
            </a:r>
          </a:p>
          <a:p>
            <a:pPr algn="l">
              <a:lnSpc>
                <a:spcPct val="100000"/>
              </a:lnSpc>
              <a:spcBef>
                <a:spcPts val="427"/>
              </a:spcBef>
            </a:pPr>
            <a:r>
              <a:rPr sz="950" b="0">
                <a:solidFill>
                  <a:srgbClr val="E11D48"/>
                </a:solidFill>
                <a:latin typeface="Segoe UI Semibold"/>
              </a:rPr>
              <a:t>UI + SAFETY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trend charts, input validation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26480" y="3200400"/>
            <a:ext cx="260604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126480" y="3200400"/>
            <a:ext cx="2606040" cy="10972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0" y="3401568"/>
            <a:ext cx="2423160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MCP SDK</a:t>
            </a:r>
          </a:p>
          <a:p>
            <a:pPr algn="l">
              <a:lnSpc>
                <a:spcPct val="100000"/>
              </a:lnSpc>
              <a:spcBef>
                <a:spcPts val="427"/>
              </a:spcBef>
            </a:pPr>
            <a:r>
              <a:rPr sz="950" b="0">
                <a:solidFill>
                  <a:srgbClr val="2563EB"/>
                </a:solidFill>
                <a:latin typeface="Segoe UI Semibold"/>
              </a:rPr>
              <a:t>INTEGRATION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same tools in Claude Code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69680" y="3200400"/>
            <a:ext cx="260604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869680" y="3200400"/>
            <a:ext cx="2606040" cy="10972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19" y="3401568"/>
            <a:ext cx="2423160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Vitest + supertest</a:t>
            </a:r>
          </a:p>
          <a:p>
            <a:pPr algn="l">
              <a:lnSpc>
                <a:spcPct val="100000"/>
              </a:lnSpc>
              <a:spcBef>
                <a:spcPts val="427"/>
              </a:spcBef>
            </a:pPr>
            <a:r>
              <a:rPr sz="950" b="0">
                <a:solidFill>
                  <a:srgbClr val="059669"/>
                </a:solidFill>
                <a:latin typeface="Segoe UI Semibold"/>
              </a:rPr>
              <a:t>QUALITY</a:t>
            </a:r>
          </a:p>
          <a:p>
            <a:pPr algn="l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6B6788"/>
                </a:solidFill>
                <a:latin typeface="Segoe UI"/>
              </a:rPr>
              <a:t>86 automated tests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4663440"/>
            <a:ext cx="10908792" cy="155448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5B21B6"/>
              </a:gs>
              <a:gs pos="100000">
                <a:srgbClr val="C026D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4754880"/>
            <a:ext cx="51206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FFFFFF"/>
                </a:solidFill>
                <a:latin typeface="Segoe UI Semibold"/>
              </a:rPr>
              <a:t>Ollama + qwen2.5:3b</a:t>
            </a:r>
          </a:p>
          <a:p>
            <a:pPr algn="l">
              <a:lnSpc>
                <a:spcPct val="100000"/>
              </a:lnSpc>
              <a:spcBef>
                <a:spcPts val="630"/>
              </a:spcBef>
            </a:pPr>
            <a:r>
              <a:rPr sz="1400" b="0">
                <a:solidFill>
                  <a:srgbClr val="F5D0FE"/>
                </a:solidFill>
                <a:latin typeface="Segoe UI"/>
              </a:rPr>
              <a:t>Open-source LLM running locally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0" y="5138928"/>
            <a:ext cx="160020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5138928"/>
            <a:ext cx="1600200" cy="59436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1C1736"/>
                </a:solidFill>
                <a:latin typeface="Segoe UI Semibold"/>
              </a:rPr>
              <a:t>Private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38160" y="5138928"/>
            <a:ext cx="160020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38160" y="5138928"/>
            <a:ext cx="1600200" cy="59436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1C1736"/>
                </a:solidFill>
                <a:latin typeface="Segoe UI Semibold"/>
              </a:rPr>
              <a:t>Free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875520" y="5138928"/>
            <a:ext cx="160020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75520" y="5138928"/>
            <a:ext cx="1600200" cy="59436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1C1736"/>
                </a:solidFill>
                <a:latin typeface="Segoe UI Semibold"/>
              </a:rPr>
              <a:t>Offline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66928"/>
            <a:ext cx="82296" cy="868680"/>
          </a:xfrm>
          <a:prstGeom prst="roundRect">
            <a:avLst>
              <a:gd name="adj" fmla="val 50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329184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C026D3"/>
                </a:solidFill>
                <a:latin typeface="Segoe UI Semibold"/>
              </a:rPr>
              <a:t>TRAINING  /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HOW THE APP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04672"/>
            <a:ext cx="106070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C1736"/>
                </a:solidFill>
                <a:latin typeface="Segoe UI Semibold"/>
              </a:rPr>
              <a:t>System Architecture &amp;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9875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"/>
              </a:rPr>
              <a:t>Also: a scheduler runs timed audits, and an optional headless browser renders JavaScript, both behind the same SSRF guard.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5  / 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46120"/>
            <a:ext cx="2011680" cy="914400"/>
          </a:xfrm>
          <a:prstGeom prst="roundRect">
            <a:avLst>
              <a:gd name="adj" fmla="val 12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246120"/>
            <a:ext cx="2011680" cy="9144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React UI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Vite, Recharts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54680" y="3246120"/>
            <a:ext cx="2331720" cy="914400"/>
          </a:xfrm>
          <a:prstGeom prst="roundRect">
            <a:avLst>
              <a:gd name="adj" fmla="val 12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54680" y="3246120"/>
            <a:ext cx="2331720" cy="9144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Express API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auth, audits, chat (SSE)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54680" y="1691640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54680" y="1691640"/>
            <a:ext cx="233172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MongoDB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users, audits, schedules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97880" y="1691640"/>
            <a:ext cx="2697480" cy="868680"/>
          </a:xfrm>
          <a:prstGeom prst="roundRect">
            <a:avLst>
              <a:gd name="adj" fmla="val 12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97880" y="1691640"/>
            <a:ext cx="269748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Audit engine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29 checks + scoring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691640"/>
            <a:ext cx="2468880" cy="868680"/>
          </a:xfrm>
          <a:prstGeom prst="roundRect">
            <a:avLst>
              <a:gd name="adj" fmla="val 12000"/>
            </a:avLst>
          </a:prstGeom>
          <a:solidFill>
            <a:srgbClr val="6B6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0" y="1691640"/>
            <a:ext cx="246888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Target website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SSRF-guarded fetch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97880" y="3246120"/>
            <a:ext cx="2697480" cy="91440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97880" y="3246120"/>
            <a:ext cx="2697480" cy="9144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Agent loop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max 5 steps, zod-validated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324612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60" y="3246120"/>
            <a:ext cx="2468880" cy="9144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Ollama LLM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qwen2.5:3b via queue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97880" y="4800600"/>
            <a:ext cx="2697480" cy="86868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97880" y="4800600"/>
            <a:ext cx="269748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Tool registry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5 tools, one source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154680" y="4800600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54680" y="4800600"/>
            <a:ext cx="233172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MCP server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stdio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80060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6B6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800600"/>
            <a:ext cx="201168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Claude Code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or Claude Desktop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651760" y="3703320"/>
            <a:ext cx="502920" cy="0"/>
          </a:xfrm>
          <a:prstGeom prst="line">
            <a:avLst/>
          </a:prstGeom>
          <a:ln w="28575">
            <a:solidFill>
              <a:srgbClr val="1C17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4663440" y="2560320"/>
            <a:ext cx="0" cy="685800"/>
          </a:xfrm>
          <a:prstGeom prst="line">
            <a:avLst/>
          </a:prstGeom>
          <a:ln w="28575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5486400" y="2286000"/>
            <a:ext cx="411480" cy="1097280"/>
          </a:xfrm>
          <a:prstGeom prst="line">
            <a:avLst/>
          </a:prstGeom>
          <a:ln w="3810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595360" y="2121408"/>
            <a:ext cx="457200" cy="0"/>
          </a:xfrm>
          <a:prstGeom prst="line">
            <a:avLst/>
          </a:prstGeom>
          <a:ln w="3810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486400" y="3703320"/>
            <a:ext cx="411480" cy="0"/>
          </a:xfrm>
          <a:prstGeom prst="line">
            <a:avLst/>
          </a:prstGeom>
          <a:ln w="38100">
            <a:solidFill>
              <a:srgbClr val="D9770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595360" y="3703320"/>
            <a:ext cx="457200" cy="0"/>
          </a:xfrm>
          <a:prstGeom prst="line">
            <a:avLst/>
          </a:prstGeom>
          <a:ln w="38100">
            <a:solidFill>
              <a:srgbClr val="D9770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223760" y="4160520"/>
            <a:ext cx="0" cy="640080"/>
          </a:xfrm>
          <a:prstGeom prst="line">
            <a:avLst/>
          </a:prstGeom>
          <a:ln w="38100">
            <a:solidFill>
              <a:srgbClr val="D9770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651760" y="5230368"/>
            <a:ext cx="502920" cy="0"/>
          </a:xfrm>
          <a:prstGeom prst="line">
            <a:avLst/>
          </a:prstGeom>
          <a:ln w="28575">
            <a:solidFill>
              <a:srgbClr val="6B67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486400" y="5230368"/>
            <a:ext cx="411480" cy="0"/>
          </a:xfrm>
          <a:prstGeom prst="line">
            <a:avLst/>
          </a:prstGeom>
          <a:ln w="28575">
            <a:solidFill>
              <a:srgbClr val="6B67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640080" y="5989320"/>
            <a:ext cx="274320" cy="12801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5897880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736"/>
                </a:solidFill>
                <a:latin typeface="Segoe UI"/>
              </a:rPr>
              <a:t>Deterministic path: no LLM involved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37760" y="5989320"/>
            <a:ext cx="274320" cy="12801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57800" y="5897880"/>
            <a:ext cx="40233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736"/>
                </a:solidFill>
                <a:latin typeface="Segoe UI"/>
              </a:rPr>
              <a:t>AI path: local, optional, queued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66928"/>
            <a:ext cx="82296" cy="868680"/>
          </a:xfrm>
          <a:prstGeom prst="roundRect">
            <a:avLst>
              <a:gd name="adj" fmla="val 50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329184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C026D3"/>
                </a:solidFill>
                <a:latin typeface="Segoe UI Semibold"/>
              </a:rPr>
              <a:t>TRAINING  / 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HOW THE AI AGENT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04672"/>
            <a:ext cx="106070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C1736"/>
                </a:solidFill>
                <a:latin typeface="Segoe UI Semibold"/>
              </a:rPr>
              <a:t>Tools compute the facts. The LLM only explains.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9875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"/>
              </a:rPr>
              <a:t>Streaming together with tool calls was tested on the installed Ollama; the answer arrives token by token.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6  / 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2103120" cy="9144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Your question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plus audit data preloaded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1828800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0" y="1828800"/>
            <a:ext cx="2103120" cy="9144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Local LLM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qwen2.5:3b, temp 0.1</a:t>
            </a:r>
          </a:p>
        </p:txBody>
      </p:sp>
      <p:sp>
        <p:nvSpPr>
          <p:cNvPr id="12" name="Diamond 11"/>
          <p:cNvSpPr/>
          <p:nvPr/>
        </p:nvSpPr>
        <p:spPr>
          <a:xfrm>
            <a:off x="5943600" y="1691640"/>
            <a:ext cx="1920240" cy="1188720"/>
          </a:xfrm>
          <a:prstGeom prst="diamond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0" y="1691640"/>
            <a:ext cx="1920240" cy="1188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Tool needed?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0" y="1828800"/>
            <a:ext cx="2926080" cy="914400"/>
          </a:xfrm>
          <a:prstGeom prst="roundRect">
            <a:avLst>
              <a:gd name="adj" fmla="val 12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0" y="1828800"/>
            <a:ext cx="2926080" cy="9144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Streamed answer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tokens arrive live (SSE)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365760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3657600"/>
            <a:ext cx="2468880" cy="9144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Run tool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zod-validated arguments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365760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0" y="3657600"/>
            <a:ext cx="2468880" cy="9144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Result to LLM</a:t>
            </a:r>
          </a:p>
          <a:p>
            <a:pPr algn="ctr">
              <a:lnSpc>
                <a:spcPct val="100000"/>
              </a:lnSpc>
              <a:spcBef>
                <a:spcPts val="517"/>
              </a:spcBef>
            </a:pPr>
            <a:r>
              <a:rPr sz="1150" b="0">
                <a:solidFill>
                  <a:srgbClr val="FFFFFF"/>
                </a:solidFill>
                <a:latin typeface="Segoe UI"/>
              </a:rPr>
              <a:t>name, args, ms saved as trace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743200" y="2286000"/>
            <a:ext cx="548640" cy="0"/>
          </a:xfrm>
          <a:prstGeom prst="line">
            <a:avLst/>
          </a:prstGeom>
          <a:ln w="28575">
            <a:solidFill>
              <a:srgbClr val="1C17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394960" y="2286000"/>
            <a:ext cx="548640" cy="0"/>
          </a:xfrm>
          <a:prstGeom prst="line">
            <a:avLst/>
          </a:prstGeom>
          <a:ln w="28575">
            <a:solidFill>
              <a:srgbClr val="1C17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863840" y="2286000"/>
            <a:ext cx="731520" cy="0"/>
          </a:xfrm>
          <a:prstGeom prst="line">
            <a:avLst/>
          </a:prstGeom>
          <a:ln w="3810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818120" y="1828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059669"/>
                </a:solidFill>
                <a:latin typeface="Segoe UI Semibold"/>
              </a:rPr>
              <a:t>no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903720" y="2880360"/>
            <a:ext cx="0" cy="777240"/>
          </a:xfrm>
          <a:prstGeom prst="line">
            <a:avLst/>
          </a:prstGeom>
          <a:ln w="38100">
            <a:solidFill>
              <a:srgbClr val="D9770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995160" y="310896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D97706"/>
                </a:solidFill>
                <a:latin typeface="Segoe UI Semibold"/>
              </a:rPr>
              <a:t>yes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5212080" y="4114800"/>
            <a:ext cx="457200" cy="0"/>
          </a:xfrm>
          <a:prstGeom prst="line">
            <a:avLst/>
          </a:prstGeom>
          <a:ln w="38100">
            <a:solidFill>
              <a:srgbClr val="D9770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3977639" y="2743200"/>
            <a:ext cx="365761" cy="914400"/>
          </a:xfrm>
          <a:prstGeom prst="line">
            <a:avLst/>
          </a:prstGeom>
          <a:ln w="38100">
            <a:solidFill>
              <a:srgbClr val="C026D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40080" y="3154680"/>
            <a:ext cx="2286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788"/>
                </a:solidFill>
                <a:latin typeface="Segoe UI"/>
              </a:rPr>
              <a:t>Max 5 steps per question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98348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026D3"/>
                </a:solidFill>
                <a:latin typeface="Segoe UI Semibold"/>
              </a:rPr>
              <a:t>GUARDRAILS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349240"/>
            <a:ext cx="3474720" cy="36576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349240"/>
            <a:ext cx="3474720" cy="36576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C1736"/>
                </a:solidFill>
                <a:latin typeface="Segoe UI Semibold"/>
              </a:rPr>
              <a:t>Max 5 steps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5349240"/>
            <a:ext cx="3474720" cy="36576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97680" y="5349240"/>
            <a:ext cx="3474720" cy="36576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C1736"/>
                </a:solidFill>
                <a:latin typeface="Segoe UI Semibold"/>
              </a:rPr>
              <a:t>Bad args: retry once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55279" y="5349240"/>
            <a:ext cx="3474720" cy="36576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55279" y="5349240"/>
            <a:ext cx="3474720" cy="36576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C1736"/>
                </a:solidFill>
                <a:latin typeface="Segoe UI Semibold"/>
              </a:rPr>
              <a:t>Own audits only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3474720" cy="365760"/>
          </a:xfrm>
          <a:prstGeom prst="roundRect">
            <a:avLst>
              <a:gd name="adj" fmla="val 12000"/>
            </a:avLst>
          </a:prstGeom>
          <a:solidFill>
            <a:srgbClr val="FF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5806440"/>
            <a:ext cx="3474720" cy="36576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C1736"/>
                </a:solidFill>
                <a:latin typeface="Segoe UI Semibold"/>
              </a:rPr>
              <a:t>SSRF-guarded run_audit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5806440"/>
            <a:ext cx="3474720" cy="36576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97680" y="5806440"/>
            <a:ext cx="3474720" cy="36576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C1736"/>
                </a:solidFill>
                <a:latin typeface="Segoe UI Semibold"/>
              </a:rPr>
              <a:t>1 LLM call at a time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955279" y="5806440"/>
            <a:ext cx="3474720" cy="365760"/>
          </a:xfrm>
          <a:prstGeom prst="roundRect">
            <a:avLst>
              <a:gd name="adj" fmla="val 12000"/>
            </a:avLst>
          </a:prstGeom>
          <a:solidFill>
            <a:srgbClr val="FAE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955279" y="5806440"/>
            <a:ext cx="3474720" cy="36576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C1736"/>
                </a:solidFill>
                <a:latin typeface="Segoe UI Semibold"/>
              </a:rPr>
              <a:t>Short refs, no id leaks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66928"/>
            <a:ext cx="82296" cy="868680"/>
          </a:xfrm>
          <a:prstGeom prst="roundRect">
            <a:avLst>
              <a:gd name="adj" fmla="val 50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329184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C026D3"/>
                </a:solidFill>
                <a:latin typeface="Segoe UI Semibold"/>
              </a:rPr>
              <a:t>TRAINING  / 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DATA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04672"/>
            <a:ext cx="106070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C1736"/>
                </a:solidFill>
                <a:latin typeface="Segoe UI Semibold"/>
              </a:rPr>
              <a:t>Three collections, one nested document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9875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"/>
              </a:rPr>
              <a:t>Findings, chat messages and tool calls are embedded in the audit, so one query loads a whole report.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7  / 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265176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2651760" cy="457200"/>
          </a:xfrm>
          <a:prstGeom prst="roundRect">
            <a:avLst>
              <a:gd name="adj" fmla="val 25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19" y="1783080"/>
            <a:ext cx="2468879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User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313432"/>
            <a:ext cx="2468879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0">
                <a:solidFill>
                  <a:srgbClr val="1C1736"/>
                </a:solidFill>
                <a:latin typeface="Segoe UI"/>
              </a:rPr>
              <a:t>_id, name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email (unique)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passwordHash (bcrypt)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069080"/>
            <a:ext cx="265176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4069080"/>
            <a:ext cx="2651760" cy="457200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19" y="4069080"/>
            <a:ext cx="2468879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Schedule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599432"/>
            <a:ext cx="2468879" cy="13258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0">
                <a:solidFill>
                  <a:srgbClr val="1C1736"/>
                </a:solidFill>
                <a:latin typeface="Segoe UI"/>
              </a:rPr>
              <a:t>user -&gt; User, url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everyHours, render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nextRunAt, lastRunAt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lastAuditId, lastError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6240" y="1783080"/>
            <a:ext cx="329184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06240" y="1783080"/>
            <a:ext cx="3291840" cy="457200"/>
          </a:xfrm>
          <a:prstGeom prst="roundRect">
            <a:avLst>
              <a:gd name="adj" fmla="val 25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79" y="1783080"/>
            <a:ext cx="310896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5968" y="2313432"/>
            <a:ext cx="3108960" cy="36118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0">
                <a:solidFill>
                  <a:srgbClr val="1C1736"/>
                </a:solidFill>
                <a:latin typeface="Segoe UI"/>
              </a:rPr>
              <a:t>_id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user  -&gt;  User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url, finalUrl, status, rendered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scores {overall, seo, accessibility,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            security, performance}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summary, fixPlan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aiStatus: pending|ready|skipped|failed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llm {provider, model, mock}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durationMs, createdAt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index (user, url, createdAt)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03920" y="1783080"/>
            <a:ext cx="3044952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03920" y="1783080"/>
            <a:ext cx="3044952" cy="457200"/>
          </a:xfrm>
          <a:prstGeom prst="roundRect">
            <a:avLst>
              <a:gd name="adj" fmla="val 25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0" y="1783080"/>
            <a:ext cx="2862072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Finding (embedded, 29)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13648" y="2313432"/>
            <a:ext cx="2862072" cy="1143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0">
                <a:solidFill>
                  <a:srgbClr val="1C1736"/>
                </a:solidFill>
                <a:latin typeface="Segoe UI"/>
              </a:rPr>
              <a:t>id, category, severity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title, evidence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recommendation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03920" y="3794760"/>
            <a:ext cx="304495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503920" y="3794760"/>
            <a:ext cx="3044952" cy="457200"/>
          </a:xfrm>
          <a:prstGeom prst="roundRect">
            <a:avLst>
              <a:gd name="adj" fmla="val 25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0" y="3794760"/>
            <a:ext cx="2862072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ChatMessage (embedded)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13648" y="4325112"/>
            <a:ext cx="286207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0">
                <a:solidFill>
                  <a:srgbClr val="1C1736"/>
                </a:solidFill>
                <a:latin typeface="Segoe UI"/>
              </a:rPr>
              <a:t>role, content, note</a:t>
            </a:r>
          </a:p>
          <a:p>
            <a:pPr algn="l">
              <a:lnSpc>
                <a:spcPct val="95000"/>
              </a:lnSpc>
              <a:spcBef>
                <a:spcPts val="517"/>
              </a:spcBef>
            </a:pPr>
            <a:r>
              <a:rPr sz="1150" b="0">
                <a:solidFill>
                  <a:srgbClr val="1C1736"/>
                </a:solidFill>
                <a:latin typeface="Segoe UI"/>
              </a:rPr>
              <a:t>toolCalls[]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03920" y="5394960"/>
            <a:ext cx="3044952" cy="640080"/>
          </a:xfrm>
          <a:prstGeom prst="roundRect">
            <a:avLst>
              <a:gd name="adj" fmla="val 6000"/>
            </a:avLst>
          </a:prstGeom>
          <a:solidFill>
            <a:srgbClr val="FF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0" y="5394960"/>
            <a:ext cx="283464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9F1239"/>
                </a:solidFill>
                <a:latin typeface="Segoe UI Semibold"/>
              </a:rPr>
              <a:t>ToolCall: name, args, resultSummary, ms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291840" y="2560320"/>
            <a:ext cx="914400" cy="0"/>
          </a:xfrm>
          <a:prstGeom prst="line">
            <a:avLst/>
          </a:prstGeom>
          <a:ln w="31750">
            <a:solidFill>
              <a:srgbClr val="1C17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3246120" y="2148840"/>
            <a:ext cx="10058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B6788"/>
                </a:solidFill>
                <a:latin typeface="Segoe UI Semibold"/>
              </a:rPr>
              <a:t>1 : many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965960" y="3383280"/>
            <a:ext cx="0" cy="685800"/>
          </a:xfrm>
          <a:prstGeom prst="line">
            <a:avLst/>
          </a:prstGeom>
          <a:ln w="31750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2057400" y="3566160"/>
            <a:ext cx="10058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B6788"/>
                </a:solidFill>
                <a:latin typeface="Segoe UI Semibold"/>
              </a:rPr>
              <a:t>1 : many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498079" y="2651760"/>
            <a:ext cx="1005841" cy="0"/>
          </a:xfrm>
          <a:prstGeom prst="line">
            <a:avLst/>
          </a:prstGeom>
          <a:ln w="3175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7452360" y="2240280"/>
            <a:ext cx="10972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B6788"/>
                </a:solidFill>
                <a:latin typeface="Segoe UI Semibold"/>
              </a:rPr>
              <a:t>embeds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498079" y="4480560"/>
            <a:ext cx="1005841" cy="0"/>
          </a:xfrm>
          <a:prstGeom prst="line">
            <a:avLst/>
          </a:prstGeom>
          <a:ln w="31750">
            <a:solidFill>
              <a:srgbClr val="D9770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452360" y="4069080"/>
            <a:ext cx="10972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B6788"/>
                </a:solidFill>
                <a:latin typeface="Segoe UI Semibold"/>
              </a:rPr>
              <a:t>embeds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0012680" y="5166360"/>
            <a:ext cx="0" cy="228600"/>
          </a:xfrm>
          <a:prstGeom prst="line">
            <a:avLst/>
          </a:prstGeom>
          <a:ln w="31750">
            <a:solidFill>
              <a:srgbClr val="E11D4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66928"/>
            <a:ext cx="82296" cy="868680"/>
          </a:xfrm>
          <a:prstGeom prst="roundRect">
            <a:avLst>
              <a:gd name="adj" fmla="val 50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329184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C026D3"/>
                </a:solidFill>
                <a:latin typeface="Segoe UI Semibold"/>
              </a:rPr>
              <a:t>TRAINING  / 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WHAT USERS CAN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04672"/>
            <a:ext cx="106070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C1736"/>
                </a:solidFill>
                <a:latin typeface="Segoe UI Semibold"/>
              </a:rPr>
              <a:t>Functional Modules &amp; Key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9875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"/>
              </a:rPr>
              <a:t>Screenshots are real captures of the running app auditing https://nikshey.xyz with the local model (qwen2.5:3b).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8  / 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645920"/>
            <a:ext cx="6309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1709928"/>
            <a:ext cx="6181344" cy="3483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19" y="5212080"/>
            <a:ext cx="612648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736"/>
                </a:solidFill>
                <a:latin typeface="Segoe UI Semibold"/>
              </a:rPr>
              <a:t>Real audit of nikshey.xyz: score 79, category scores, AI summary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78040" y="1645920"/>
            <a:ext cx="4370832" cy="2194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2048" y="1709928"/>
            <a:ext cx="4242816" cy="15636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69479" y="3291840"/>
            <a:ext cx="4187952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736"/>
                </a:solidFill>
                <a:latin typeface="Segoe UI Semibold"/>
              </a:rPr>
              <a:t>Evidence and a ready fix snippet per finding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78040" y="3749039"/>
            <a:ext cx="4370832" cy="2194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2048" y="3813048"/>
            <a:ext cx="4242816" cy="15636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269479" y="5394959"/>
            <a:ext cx="4187952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736"/>
                </a:solidFill>
                <a:latin typeface="Segoe UI Semibold"/>
              </a:rPr>
              <a:t>Agent chat with a collapsible tool trace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998464"/>
            <a:ext cx="1755648" cy="365760"/>
          </a:xfrm>
          <a:prstGeom prst="roundRect">
            <a:avLst>
              <a:gd name="adj" fmla="val 3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" y="5998464"/>
            <a:ext cx="16916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1736"/>
                </a:solidFill>
                <a:latin typeface="Segoe UI Semibold"/>
              </a:rPr>
              <a:t>01  Audit engine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68880" y="5998464"/>
            <a:ext cx="1755648" cy="365760"/>
          </a:xfrm>
          <a:prstGeom prst="roundRect">
            <a:avLst>
              <a:gd name="adj" fmla="val 30000"/>
            </a:avLst>
          </a:prstGeom>
          <a:solidFill>
            <a:srgbClr val="FAE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5998464"/>
            <a:ext cx="16916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1736"/>
                </a:solidFill>
                <a:latin typeface="Segoe UI Semibold"/>
              </a:rPr>
              <a:t>02  AI summary + chat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0" y="5998464"/>
            <a:ext cx="1755648" cy="365760"/>
          </a:xfrm>
          <a:prstGeom prst="roundRect">
            <a:avLst>
              <a:gd name="adj" fmla="val 3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52544" y="5998464"/>
            <a:ext cx="16916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1736"/>
                </a:solidFill>
                <a:latin typeface="Segoe UI Semibold"/>
              </a:rPr>
              <a:t>03  Compare + trend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26480" y="5998464"/>
            <a:ext cx="1755648" cy="365760"/>
          </a:xfrm>
          <a:prstGeom prst="roundRect">
            <a:avLst>
              <a:gd name="adj" fmla="val 30000"/>
            </a:avLst>
          </a:prstGeom>
          <a:solidFill>
            <a:srgbClr val="FF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81344" y="5998464"/>
            <a:ext cx="16916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1736"/>
                </a:solidFill>
                <a:latin typeface="Segoe UI Semibold"/>
              </a:rPr>
              <a:t>04  History + sign-in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55279" y="5998464"/>
            <a:ext cx="1755648" cy="365760"/>
          </a:xfrm>
          <a:prstGeom prst="roundRect">
            <a:avLst>
              <a:gd name="adj" fmla="val 3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10144" y="5998464"/>
            <a:ext cx="16916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1736"/>
                </a:solidFill>
                <a:latin typeface="Segoe UI Semibold"/>
              </a:rPr>
              <a:t>05  Scheduled audits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84080" y="5998464"/>
            <a:ext cx="1755648" cy="365760"/>
          </a:xfrm>
          <a:prstGeom prst="roundRect">
            <a:avLst>
              <a:gd name="adj" fmla="val 3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38944" y="5998464"/>
            <a:ext cx="16916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1736"/>
                </a:solidFill>
                <a:latin typeface="Segoe UI Semibold"/>
              </a:rPr>
              <a:t>06  JS rendering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66928"/>
            <a:ext cx="82296" cy="868680"/>
          </a:xfrm>
          <a:prstGeom prst="roundRect">
            <a:avLst>
              <a:gd name="adj" fmla="val 50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329184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C026D3"/>
                </a:solidFill>
                <a:latin typeface="Segoe UI Semibold"/>
              </a:rPr>
              <a:t>TRAINING  / 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LIVE DEMO SEQUENCE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04672"/>
            <a:ext cx="106070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C1736"/>
                </a:solidFill>
                <a:latin typeface="Segoe UI Semibold"/>
              </a:rPr>
              <a:t>Bad page to good page in four 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9875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"/>
              </a:rPr>
              <a:t>Live-demo sequence: audit bad -&gt; ask the agent -&gt; audit good -&gt; compare. Real site: nikshey.xyz scored 79/100.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9  / 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1719072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25295" y="1920240"/>
            <a:ext cx="548640" cy="548640"/>
          </a:xfrm>
          <a:prstGeom prst="ellipse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25295" y="192024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60320"/>
            <a:ext cx="1627632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Audit demo (bad)</a:t>
            </a:r>
          </a:p>
          <a:p>
            <a:pPr algn="ctr">
              <a:lnSpc>
                <a:spcPct val="100000"/>
              </a:lnSpc>
              <a:spcBef>
                <a:spcPts val="540"/>
              </a:spcBef>
            </a:pPr>
            <a:r>
              <a:rPr sz="1200" b="0">
                <a:solidFill>
                  <a:srgbClr val="6B6788"/>
                </a:solidFill>
                <a:latin typeface="Segoe UI"/>
              </a:rPr>
              <a:t>score appears instantly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77439" y="2743200"/>
            <a:ext cx="91441" cy="0"/>
          </a:xfrm>
          <a:prstGeom prst="line">
            <a:avLst/>
          </a:prstGeom>
          <a:ln w="25400">
            <a:solidFill>
              <a:srgbClr val="6B67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468880" y="1783080"/>
            <a:ext cx="1719072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054096" y="1920240"/>
            <a:ext cx="548640" cy="54864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54096" y="192024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2560320"/>
            <a:ext cx="1627632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Read the findings</a:t>
            </a:r>
          </a:p>
          <a:p>
            <a:pPr algn="ctr">
              <a:lnSpc>
                <a:spcPct val="100000"/>
              </a:lnSpc>
              <a:spcBef>
                <a:spcPts val="540"/>
              </a:spcBef>
            </a:pPr>
            <a:r>
              <a:rPr sz="1200" b="0">
                <a:solidFill>
                  <a:srgbClr val="6B6788"/>
                </a:solidFill>
                <a:latin typeface="Segoe UI"/>
              </a:rPr>
              <a:t>while AI writes summary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206240" y="2743200"/>
            <a:ext cx="91440" cy="0"/>
          </a:xfrm>
          <a:prstGeom prst="line">
            <a:avLst/>
          </a:prstGeom>
          <a:ln w="25400">
            <a:solidFill>
              <a:srgbClr val="6B67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97680" y="1783080"/>
            <a:ext cx="1719072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882896" y="1920240"/>
            <a:ext cx="548640" cy="548640"/>
          </a:xfrm>
          <a:prstGeom prst="ellipse">
            <a:avLst/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82896" y="192024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2560320"/>
            <a:ext cx="1627632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Ask the agent</a:t>
            </a:r>
          </a:p>
          <a:p>
            <a:pPr algn="ctr">
              <a:lnSpc>
                <a:spcPct val="100000"/>
              </a:lnSpc>
              <a:spcBef>
                <a:spcPts val="540"/>
              </a:spcBef>
            </a:pPr>
            <a:r>
              <a:rPr sz="1200" b="0">
                <a:solidFill>
                  <a:srgbClr val="6B6788"/>
                </a:solidFill>
                <a:latin typeface="Segoe UI"/>
              </a:rPr>
              <a:t>"what should I fix first?"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35040" y="2743200"/>
            <a:ext cx="91440" cy="0"/>
          </a:xfrm>
          <a:prstGeom prst="line">
            <a:avLst/>
          </a:prstGeom>
          <a:ln w="25400">
            <a:solidFill>
              <a:srgbClr val="6B67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126480" y="1783080"/>
            <a:ext cx="1719072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711696" y="1920240"/>
            <a:ext cx="548640" cy="5486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11696" y="192024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2560320"/>
            <a:ext cx="1627632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Audit demo (good)</a:t>
            </a:r>
          </a:p>
          <a:p>
            <a:pPr algn="ctr">
              <a:lnSpc>
                <a:spcPct val="100000"/>
              </a:lnSpc>
              <a:spcBef>
                <a:spcPts val="540"/>
              </a:spcBef>
            </a:pPr>
            <a:r>
              <a:rPr sz="1200" b="0">
                <a:solidFill>
                  <a:srgbClr val="6B6788"/>
                </a:solidFill>
                <a:latin typeface="Segoe UI"/>
              </a:rPr>
              <a:t>same page, fixed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863840" y="2743200"/>
            <a:ext cx="91439" cy="0"/>
          </a:xfrm>
          <a:prstGeom prst="line">
            <a:avLst/>
          </a:prstGeom>
          <a:ln w="25400">
            <a:solidFill>
              <a:srgbClr val="6B67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955279" y="1783080"/>
            <a:ext cx="1719072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540496" y="1920240"/>
            <a:ext cx="548640" cy="5486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40496" y="192024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2560320"/>
            <a:ext cx="1627632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Compare</a:t>
            </a:r>
          </a:p>
          <a:p>
            <a:pPr algn="ctr">
              <a:lnSpc>
                <a:spcPct val="100000"/>
              </a:lnSpc>
              <a:spcBef>
                <a:spcPts val="540"/>
              </a:spcBef>
            </a:pPr>
            <a:r>
              <a:rPr sz="1200" b="0">
                <a:solidFill>
                  <a:srgbClr val="6B6788"/>
                </a:solidFill>
                <a:latin typeface="Segoe UI"/>
              </a:rPr>
              <a:t>54 to 96, 22 issues fixed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692640" y="2743200"/>
            <a:ext cx="91440" cy="0"/>
          </a:xfrm>
          <a:prstGeom prst="line">
            <a:avLst/>
          </a:prstGeom>
          <a:ln w="25400">
            <a:solidFill>
              <a:srgbClr val="6B67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784080" y="1783080"/>
            <a:ext cx="1719072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369296" y="1920240"/>
            <a:ext cx="548640" cy="5486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369296" y="192024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FFFFFF"/>
                </a:solidFill>
                <a:latin typeface="Segoe UI Semibold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9800" y="2560320"/>
            <a:ext cx="1627632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C1736"/>
                </a:solidFill>
                <a:latin typeface="Segoe UI Semibold"/>
              </a:rPr>
              <a:t>Real site + MCP</a:t>
            </a:r>
          </a:p>
          <a:p>
            <a:pPr algn="ctr">
              <a:lnSpc>
                <a:spcPct val="100000"/>
              </a:lnSpc>
              <a:spcBef>
                <a:spcPts val="540"/>
              </a:spcBef>
            </a:pPr>
            <a:r>
              <a:rPr sz="1200" b="0">
                <a:solidFill>
                  <a:srgbClr val="6B6788"/>
                </a:solidFill>
                <a:latin typeface="Segoe UI"/>
              </a:rPr>
              <a:t>nikshey.xyz, tool trace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4069080"/>
            <a:ext cx="64008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4133087"/>
            <a:ext cx="5486400" cy="18288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31520" y="5943600"/>
            <a:ext cx="6217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B6788"/>
                </a:solidFill>
                <a:latin typeface="Segoe UI Semibold"/>
              </a:rPr>
              <a:t>Real compare page: 54 to 96 (+42)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315200" y="4069080"/>
            <a:ext cx="4233672" cy="2148840"/>
          </a:xfrm>
          <a:prstGeom prst="roundRect">
            <a:avLst>
              <a:gd name="adj" fmla="val 6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43800" y="4160520"/>
            <a:ext cx="3840480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D28D9"/>
                </a:solidFill>
                <a:latin typeface="Segoe UI Semibold"/>
              </a:rPr>
              <a:t>Measured on this laptop</a:t>
            </a:r>
          </a:p>
          <a:p>
            <a:pPr algn="l">
              <a:lnSpc>
                <a:spcPct val="100000"/>
              </a:lnSpc>
              <a:spcBef>
                <a:spcPts val="585"/>
              </a:spcBef>
            </a:pPr>
            <a:r>
              <a:rPr sz="1300" b="0">
                <a:solidFill>
                  <a:srgbClr val="1C1736"/>
                </a:solidFill>
                <a:latin typeface="Segoe UI"/>
              </a:rPr>
              <a:t>Audit: tens of milliseconds (local pages)</a:t>
            </a:r>
          </a:p>
          <a:p>
            <a:pPr algn="l">
              <a:lnSpc>
                <a:spcPct val="100000"/>
              </a:lnSpc>
              <a:spcBef>
                <a:spcPts val="585"/>
              </a:spcBef>
            </a:pPr>
            <a:r>
              <a:rPr sz="1300" b="0">
                <a:solidFill>
                  <a:srgbClr val="1C1736"/>
                </a:solidFill>
                <a:latin typeface="Segoe UI"/>
              </a:rPr>
              <a:t>AI summary: about 20 to 35 s (CPU)</a:t>
            </a:r>
          </a:p>
          <a:p>
            <a:pPr algn="l">
              <a:lnSpc>
                <a:spcPct val="100000"/>
              </a:lnSpc>
              <a:spcBef>
                <a:spcPts val="585"/>
              </a:spcBef>
            </a:pPr>
            <a:r>
              <a:rPr sz="1300" b="0">
                <a:solidFill>
                  <a:srgbClr val="1C1736"/>
                </a:solidFill>
                <a:latin typeface="Segoe UI"/>
              </a:rPr>
              <a:t>Chat answer: about 15 to 40 s</a:t>
            </a:r>
          </a:p>
          <a:p>
            <a:pPr algn="l">
              <a:lnSpc>
                <a:spcPct val="100000"/>
              </a:lnSpc>
              <a:spcBef>
                <a:spcPts val="585"/>
              </a:spcBef>
            </a:pPr>
            <a:r>
              <a:rPr sz="1300" b="0">
                <a:solidFill>
                  <a:srgbClr val="1C1736"/>
                </a:solidFill>
                <a:latin typeface="Segoe UI Semibold"/>
              </a:rPr>
              <a:t>Scores never wait for the model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66928"/>
            <a:ext cx="82296" cy="868680"/>
          </a:xfrm>
          <a:prstGeom prst="roundRect">
            <a:avLst>
              <a:gd name="adj" fmla="val 50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329184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C026D3"/>
                </a:solidFill>
                <a:latin typeface="Segoe UI Semibold"/>
              </a:rPr>
              <a:t>TRAINING  / 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MEASURE FUNCTIONALITY, NOT INVENTED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04672"/>
            <a:ext cx="106070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C1736"/>
                </a:solidFill>
                <a:latin typeface="Segoe UI Semibold"/>
              </a:rPr>
              <a:t>Security &amp; Testing Checklist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9875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"/>
              </a:rPr>
              <a:t>Counts are from the last npm test run. Live-model behaviour: npm run test:live (4 tests, opt-in) and npm run check:llm.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10  / 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566928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74519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D28D9"/>
                </a:solidFill>
                <a:latin typeface="Segoe UI Semibold"/>
              </a:rPr>
              <a:t>Security layers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423160"/>
            <a:ext cx="91440" cy="566928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377440"/>
            <a:ext cx="50292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450" b="0">
                <a:solidFill>
                  <a:srgbClr val="1C1736"/>
                </a:solidFill>
                <a:latin typeface="Segoe UI Semibold"/>
              </a:rPr>
              <a:t>SSRF guard</a:t>
            </a:r>
          </a:p>
          <a:p>
            <a:pPr algn="l">
              <a:lnSpc>
                <a:spcPct val="95000"/>
              </a:lnSpc>
              <a:spcBef>
                <a:spcPts val="495"/>
              </a:spcBef>
            </a:pPr>
            <a:r>
              <a:rPr sz="1100" b="0">
                <a:solidFill>
                  <a:srgbClr val="6B6788"/>
                </a:solidFill>
                <a:latin typeface="Segoe UI"/>
              </a:rPr>
              <a:t>http/https only, private + metadata IPs blocked, 3 redirects, 10 s, 2 MB; also applied to every request of the headless browser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191256"/>
            <a:ext cx="91440" cy="56692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145536"/>
            <a:ext cx="50292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450" b="0">
                <a:solidFill>
                  <a:srgbClr val="1C1736"/>
                </a:solidFill>
                <a:latin typeface="Segoe UI Semibold"/>
              </a:rPr>
              <a:t>JWT + bcrypt</a:t>
            </a:r>
          </a:p>
          <a:p>
            <a:pPr algn="l">
              <a:lnSpc>
                <a:spcPct val="95000"/>
              </a:lnSpc>
              <a:spcBef>
                <a:spcPts val="495"/>
              </a:spcBef>
            </a:pPr>
            <a:r>
              <a:rPr sz="1100" b="0">
                <a:solidFill>
                  <a:srgbClr val="6B6788"/>
                </a:solidFill>
                <a:latin typeface="Segoe UI"/>
              </a:rPr>
              <a:t>protected routes, hashed passwords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959352"/>
            <a:ext cx="91440" cy="56692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3913632"/>
            <a:ext cx="50292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450" b="0">
                <a:solidFill>
                  <a:srgbClr val="1C1736"/>
                </a:solidFill>
                <a:latin typeface="Segoe UI Semibold"/>
              </a:rPr>
              <a:t>Ownership checks</a:t>
            </a:r>
          </a:p>
          <a:p>
            <a:pPr algn="l">
              <a:lnSpc>
                <a:spcPct val="95000"/>
              </a:lnSpc>
              <a:spcBef>
                <a:spcPts val="495"/>
              </a:spcBef>
            </a:pPr>
            <a:r>
              <a:rPr sz="1100" b="0">
                <a:solidFill>
                  <a:srgbClr val="6B6788"/>
                </a:solidFill>
                <a:latin typeface="Segoe UI"/>
              </a:rPr>
              <a:t>other users' audits return 404 (also for the agent and MCP tools)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727448"/>
            <a:ext cx="91440" cy="566928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681728"/>
            <a:ext cx="50292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450" b="0">
                <a:solidFill>
                  <a:srgbClr val="1C1736"/>
                </a:solidFill>
                <a:latin typeface="Segoe UI Semibold"/>
              </a:rPr>
              <a:t>helmet, CORS, rate limits</a:t>
            </a:r>
          </a:p>
          <a:p>
            <a:pPr algn="l">
              <a:lnSpc>
                <a:spcPct val="95000"/>
              </a:lnSpc>
              <a:spcBef>
                <a:spcPts val="495"/>
              </a:spcBef>
            </a:pPr>
            <a:r>
              <a:rPr sz="1100" b="0">
                <a:solidFill>
                  <a:srgbClr val="6B6788"/>
                </a:solidFill>
                <a:latin typeface="Segoe UI"/>
              </a:rPr>
              <a:t>per-user limits on audits and chat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5495544"/>
            <a:ext cx="91440" cy="566928"/>
          </a:xfrm>
          <a:prstGeom prst="roundRect">
            <a:avLst>
              <a:gd name="adj" fmla="val 50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5449824"/>
            <a:ext cx="50292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450" b="0">
                <a:solidFill>
                  <a:srgbClr val="1C1736"/>
                </a:solidFill>
                <a:latin typeface="Segoe UI Semibold"/>
              </a:rPr>
              <a:t>zod validation</a:t>
            </a:r>
          </a:p>
          <a:p>
            <a:pPr algn="l">
              <a:lnSpc>
                <a:spcPct val="95000"/>
              </a:lnSpc>
              <a:spcBef>
                <a:spcPts val="495"/>
              </a:spcBef>
            </a:pPr>
            <a:r>
              <a:rPr sz="1100" b="0">
                <a:solidFill>
                  <a:srgbClr val="6B6788"/>
                </a:solidFill>
                <a:latin typeface="Segoe UI"/>
              </a:rPr>
              <a:t>every input and every tool call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0" y="1783080"/>
            <a:ext cx="4965192" cy="1691640"/>
          </a:xfrm>
          <a:prstGeom prst="roundRect">
            <a:avLst>
              <a:gd name="adj" fmla="val 7000"/>
            </a:avLst>
          </a:prstGeom>
          <a:gradFill rotWithShape="1">
            <a:gsLst>
              <a:gs pos="0">
                <a:srgbClr val="5B21B6"/>
              </a:gs>
              <a:gs pos="100000">
                <a:srgbClr val="C026D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1810512"/>
            <a:ext cx="4965192" cy="1051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0">
                <a:solidFill>
                  <a:srgbClr val="FFFFFF"/>
                </a:solidFill>
                <a:latin typeface="Segoe UI Semibold"/>
              </a:rPr>
              <a:t>86 / 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834640"/>
            <a:ext cx="496519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5D0FE"/>
                </a:solidFill>
                <a:latin typeface="Segoe UI"/>
              </a:rPr>
              <a:t>tests passing  ·  npm test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0" y="3657600"/>
            <a:ext cx="4965192" cy="2560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0" y="3703320"/>
            <a:ext cx="36576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59669"/>
                </a:solidFill>
                <a:latin typeface="Segoe UI Semibold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3703320"/>
            <a:ext cx="34747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736"/>
                </a:solidFill>
                <a:latin typeface="Segoe UI"/>
              </a:rPr>
              <a:t>Checkers, scoring, compare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3703320"/>
            <a:ext cx="77724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>
                <a:solidFill>
                  <a:srgbClr val="6D28D9"/>
                </a:solidFill>
                <a:latin typeface="Segoe UI Semibold"/>
              </a:rPr>
              <a:t>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4041648"/>
            <a:ext cx="36576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59669"/>
                </a:solidFill>
                <a:latin typeface="Segoe UI Semibold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4041648"/>
            <a:ext cx="34747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736"/>
                </a:solidFill>
                <a:latin typeface="Segoe UI"/>
              </a:rPr>
              <a:t>SSRF guard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4041648"/>
            <a:ext cx="77724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>
                <a:solidFill>
                  <a:srgbClr val="6D28D9"/>
                </a:solidFill>
                <a:latin typeface="Segoe UI Semibold"/>
              </a:rPr>
              <a:t>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4379976"/>
            <a:ext cx="36576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59669"/>
                </a:solidFill>
                <a:latin typeface="Segoe UI Semibold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0" y="4379976"/>
            <a:ext cx="34747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736"/>
                </a:solidFill>
                <a:latin typeface="Segoe UI"/>
              </a:rPr>
              <a:t>Auth, API, ownership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4379976"/>
            <a:ext cx="77724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>
                <a:solidFill>
                  <a:srgbClr val="6D28D9"/>
                </a:solidFill>
                <a:latin typeface="Segoe UI Semibold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4718304"/>
            <a:ext cx="36576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59669"/>
                </a:solidFill>
                <a:latin typeface="Segoe UI Semibold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4718304"/>
            <a:ext cx="34747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736"/>
                </a:solidFill>
                <a:latin typeface="Segoe UI"/>
              </a:rPr>
              <a:t>Agent, summary, SSE chat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7040" y="4718304"/>
            <a:ext cx="77724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>
                <a:solidFill>
                  <a:srgbClr val="6D28D9"/>
                </a:solidFill>
                <a:latin typeface="Segoe UI Semibold"/>
              </a:rPr>
              <a:t>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6560" y="5056631"/>
            <a:ext cx="36576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59669"/>
                </a:solidFill>
                <a:latin typeface="Segoe UI Semibold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32320" y="5056631"/>
            <a:ext cx="34747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736"/>
                </a:solidFill>
                <a:latin typeface="Segoe UI"/>
              </a:rPr>
              <a:t>Render, schedules, short refs, links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7040" y="5056631"/>
            <a:ext cx="77724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>
                <a:solidFill>
                  <a:srgbClr val="6D28D9"/>
                </a:solidFill>
                <a:latin typeface="Segoe UI Semibold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66560" y="5394960"/>
            <a:ext cx="36576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59669"/>
                </a:solidFill>
                <a:latin typeface="Segoe UI Semibold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32320" y="5394960"/>
            <a:ext cx="34747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736"/>
                </a:solidFill>
                <a:latin typeface="Segoe UI"/>
              </a:rPr>
              <a:t>History, sessions, sign-up and sign-in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07040" y="5394960"/>
            <a:ext cx="77724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>
                <a:solidFill>
                  <a:srgbClr val="6D28D9"/>
                </a:solidFill>
                <a:latin typeface="Segoe UI Semibold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66560" y="5733288"/>
            <a:ext cx="36576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59669"/>
                </a:solidFill>
                <a:latin typeface="Segoe UI Semibold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32320" y="5733288"/>
            <a:ext cx="34747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736"/>
                </a:solidFill>
                <a:latin typeface="Segoe UI"/>
              </a:rPr>
              <a:t>MCP stdio client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0" y="5733288"/>
            <a:ext cx="77724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>
                <a:solidFill>
                  <a:srgbClr val="6D28D9"/>
                </a:solidFill>
                <a:latin typeface="Segoe UI Semibold"/>
              </a:rPr>
              <a:t>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66928"/>
            <a:ext cx="82296" cy="868680"/>
          </a:xfrm>
          <a:prstGeom prst="roundRect">
            <a:avLst>
              <a:gd name="adj" fmla="val 50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329184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C026D3"/>
                </a:solidFill>
                <a:latin typeface="Segoe UI Semibold"/>
              </a:rPr>
              <a:t>TRAINING  / 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5486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WHAT THIS PROJECT TAUGHT 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04672"/>
            <a:ext cx="106070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C1736"/>
                </a:solidFill>
                <a:latin typeface="Segoe UI Semibold"/>
              </a:rPr>
              <a:t>Learning Outcomes &amp; Future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9875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"/>
              </a:rPr>
              <a:t>These are the real challenges I hit; future items are proposals, not claims of completion.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6B6788"/>
                </a:solidFill>
                <a:latin typeface="Segoe UI Semibold"/>
              </a:rPr>
              <a:t>11  / 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352044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3520440" cy="594360"/>
          </a:xfrm>
          <a:prstGeom prst="roundRect">
            <a:avLst>
              <a:gd name="adj" fmla="val 25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783080"/>
            <a:ext cx="31089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FFFFF"/>
                </a:solidFill>
                <a:latin typeface="Segoe UI Semibold"/>
              </a:rPr>
              <a:t>Learning outcomes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560320"/>
            <a:ext cx="365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59669"/>
                </a:solidFill>
                <a:latin typeface="Segoe UI Semibold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19" y="2560320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Full-stack MERN with auth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73552"/>
            <a:ext cx="365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59669"/>
                </a:solidFill>
                <a:latin typeface="Segoe UI Semibold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19" y="3273552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JWT, validation, SSRF defence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986783"/>
            <a:ext cx="365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59669"/>
                </a:solidFill>
                <a:latin typeface="Segoe UI Semibol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19" y="3986783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Agent loop and tool calling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700016"/>
            <a:ext cx="365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59669"/>
                </a:solidFill>
                <a:latin typeface="Segoe UI Semibold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19" y="4700016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MCP: one registry, two clients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413248"/>
            <a:ext cx="365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59669"/>
                </a:solidFill>
                <a:latin typeface="Segoe UI Semibold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19" y="5413248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Testing with a mock LLM and a live one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1783080"/>
            <a:ext cx="352044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343400" y="1783080"/>
            <a:ext cx="3520440" cy="594360"/>
          </a:xfrm>
          <a:prstGeom prst="roundRect">
            <a:avLst>
              <a:gd name="adj" fmla="val 25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1783080"/>
            <a:ext cx="31089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FFFFF"/>
                </a:solidFill>
                <a:latin typeface="Segoe UI Semibold"/>
              </a:rPr>
              <a:t>Challenges solved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2560320"/>
            <a:ext cx="365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D97706"/>
                </a:solidFill>
                <a:latin typeface="Segoe UI Semibold"/>
              </a:rPr>
              <a:t>!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2560320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A 3B model mangled an audit ID: short refs and title lookup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3456432"/>
            <a:ext cx="365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D97706"/>
                </a:solidFill>
                <a:latin typeface="Segoe UI Semibold"/>
              </a:rPr>
              <a:t>!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92040" y="3456432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CPU LLM takes 15 to 40 s: background summary, queue, auto warm-up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352544"/>
            <a:ext cx="365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D97706"/>
                </a:solidFill>
                <a:latin typeface="Segoe UI Semibold"/>
              </a:rPr>
              <a:t>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4352544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JavaScript-built pages: optional headless render, SSRF-guarded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5248656"/>
            <a:ext cx="365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D97706"/>
                </a:solidFill>
                <a:latin typeface="Segoe UI Semibold"/>
              </a:rPr>
              <a:t>!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5248656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Demo DB reset left a stale login ("Audit not found"): on-disk DB and session check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46719" y="1783080"/>
            <a:ext cx="352044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046719" y="1783080"/>
            <a:ext cx="3520440" cy="594360"/>
          </a:xfrm>
          <a:prstGeom prst="roundRect">
            <a:avLst>
              <a:gd name="adj" fmla="val 25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599" y="1783080"/>
            <a:ext cx="31089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FFFFF"/>
                </a:solidFill>
                <a:latin typeface="Segoe UI Semibold"/>
              </a:rPr>
              <a:t>Future enhancements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11311" y="2596896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11311" y="2596896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95359" y="2560320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Larger or fine-tuned models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211311" y="3310128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11311" y="3310128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95359" y="3273552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RAG over WCAG and OWASP docs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11311" y="4023359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11311" y="4023359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5359" y="3986783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Email alerts for scheduled audits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11311" y="473659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11311" y="4736592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95359" y="4700016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CI integration (fail on low score)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11311" y="5449824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C02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11311" y="5449824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FFFFFF"/>
                </a:solidFill>
                <a:latin typeface="Segoe UI Semibold"/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95359" y="5413248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1736"/>
                </a:solidFill>
                <a:latin typeface="Segoe UI"/>
              </a:rPr>
              <a:t>More checks and Lighthouse-style metrics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2E1065"/>
            </a:gs>
            <a:gs pos="100000">
              <a:srgbClr val="A21CAF"/>
            </a:gs>
          </a:gsLst>
          <a:lin scaled="0" ang="19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463040"/>
            <a:ext cx="12191695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F0ABFC"/>
                </a:solidFill>
                <a:latin typeface="Segoe UI Semibold"/>
              </a:rPr>
              <a:t>END OF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0" b="0">
                <a:solidFill>
                  <a:srgbClr val="FFFFFF"/>
                </a:solidFill>
                <a:latin typeface="Segoe UI Semibold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520440"/>
            <a:ext cx="12191695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F5D0FE"/>
                </a:solidFill>
                <a:latin typeface="Segoe UI"/>
              </a:rPr>
              <a:t>Learning. Building. Improving.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0" y="4389120"/>
            <a:ext cx="850392" cy="54864"/>
          </a:xfrm>
          <a:prstGeom prst="roundRect">
            <a:avLst>
              <a:gd name="adj" fmla="val 50000"/>
            </a:avLst>
          </a:prstGeom>
          <a:solidFill>
            <a:srgbClr val="F0A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4663440"/>
            <a:ext cx="12191695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FFFFFF"/>
                </a:solidFill>
                <a:latin typeface="Segoe UI Semibold"/>
              </a:rPr>
              <a:t>Nikshey Yadav  ·  Roll No. 231302221</a:t>
            </a:r>
          </a:p>
          <a:p>
            <a:pPr algn="ctr">
              <a:lnSpc>
                <a:spcPct val="100000"/>
              </a:lnSpc>
              <a:spcBef>
                <a:spcPts val="630"/>
              </a:spcBef>
            </a:pPr>
            <a:r>
              <a:rPr sz="1400" b="0">
                <a:solidFill>
                  <a:srgbClr val="EDE9FE"/>
                </a:solidFill>
                <a:latin typeface="Segoe UI"/>
              </a:rPr>
              <a:t>AuditPilot  ·  B.Tech CSE (Data Science)  ·  SGT University  ·  AccioJobs Pvt. Ltd.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035040"/>
            <a:ext cx="12191695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F0ABFC"/>
                </a:solidFill>
                <a:latin typeface="Segoe UI Semibold"/>
              </a:rPr>
              <a:t>REACT  ·  EXPRESS  ·  MONGODB  ·  OLLAMA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